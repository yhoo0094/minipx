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73" r:id="rId2"/>
    <p:sldId id="324" r:id="rId3"/>
    <p:sldId id="352" r:id="rId4"/>
    <p:sldId id="369" r:id="rId5"/>
    <p:sldId id="376" r:id="rId6"/>
    <p:sldId id="372" r:id="rId7"/>
    <p:sldId id="373" r:id="rId8"/>
    <p:sldId id="377" r:id="rId9"/>
    <p:sldId id="380" r:id="rId10"/>
    <p:sldId id="382" r:id="rId11"/>
    <p:sldId id="381" r:id="rId12"/>
    <p:sldId id="383" r:id="rId13"/>
    <p:sldId id="384" r:id="rId14"/>
    <p:sldId id="385" r:id="rId15"/>
    <p:sldId id="386" r:id="rId16"/>
    <p:sldId id="387" r:id="rId17"/>
    <p:sldId id="388" r:id="rId18"/>
    <p:sldId id="358" r:id="rId19"/>
  </p:sldIdLst>
  <p:sldSz cx="9144000" cy="5143500" type="screen16x9"/>
  <p:notesSz cx="6858000" cy="9144000"/>
  <p:embeddedFontLst>
    <p:embeddedFont>
      <p:font typeface="맑은 고딕" panose="020B0503020000020004" pitchFamily="50" charset="-127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B6F8"/>
    <a:srgbClr val="F7981F"/>
    <a:srgbClr val="1E83F2"/>
    <a:srgbClr val="1E6FF2"/>
    <a:srgbClr val="FFC000"/>
    <a:srgbClr val="FF0000"/>
    <a:srgbClr val="00B05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660"/>
  </p:normalViewPr>
  <p:slideViewPr>
    <p:cSldViewPr snapToGrid="0">
      <p:cViewPr>
        <p:scale>
          <a:sx n="150" d="100"/>
          <a:sy n="150" d="100"/>
        </p:scale>
        <p:origin x="624" y="-2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4283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188BB-0BA9-27AB-9BC2-8C0A63787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63937F-C9B5-A508-84E1-E544E5214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D340B2-4ED4-C30E-1BE1-7C635E91E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0238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F8E13-689D-45BC-CF84-DE34799D1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B183FE-6A24-ED37-4430-6E121B2EF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F26D2E-42E0-204A-3F4F-42291A54B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0968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886C3-AF8F-1976-8B27-2A806430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66D209-835C-5019-8F97-FA313EDDB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3EB1AB-A0FD-BE92-0272-98217F023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7457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510F3-D3B4-B917-0DDC-434082A81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094F07-43DB-B0D9-102E-6DE431E245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7A6060-18A8-C486-9FB9-73613A0A0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906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7A81F-9711-ECC7-8594-5CC4F477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55D415-B722-16A7-BED5-6E5922AF1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395EC0-52E7-0579-D84E-7CA2A9C8B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1565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7FEF9-5A97-D141-ACE9-C0C890AE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2D2458-8F85-80D7-83A6-D012AE149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6F827B-0E96-FA35-5646-46C19AC5F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3098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C97F-F548-CF14-4186-F1FDDA4D0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083B8D-3EBF-90F2-EB1A-40C5B2BAE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E50BA-C92A-E020-6599-73DFF89C7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8649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D1866-8B77-38F6-4FE0-006EA592A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4D9599-937E-B868-EB8E-F63704A4B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381A86-A027-3096-AD25-CFA20A9B4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8872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9886-89CF-578C-2654-3E12132A9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394833-05A7-7AA3-97A1-46DD24C7C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C89876-5889-A5F7-51E2-C2A7B2510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0603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59F5A-7E66-58D9-795F-AE0F2617E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9CFCA9-0C88-2237-57AB-FCA2CB539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552565-1B5B-92E8-B867-4C462FBA8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5783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AFE58-70E9-3D50-FD8F-8EEAB443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95817B-40D4-140D-6178-2E86071B6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747884-4CDA-2FD2-963F-44A756BB7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1064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476E5-CFBA-BEBF-B16B-570512DED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33780C-619E-B8C4-A2A0-8C9B810F1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6E3AB7-505A-CE76-911E-E63A508BE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4975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7FBD7-985A-3295-D5F4-19C8155BE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BA6A3A-58DB-E00F-8546-40834261D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EB8B24-6336-F873-BFDD-7771A0B37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7933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7CC27E6-CB1F-AD5A-98BD-917F918CC6A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15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FF8C4B-A1A1-722F-8410-7686B51624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467" y="4762363"/>
            <a:ext cx="1477533" cy="381137"/>
          </a:xfrm>
          <a:prstGeom prst="rect">
            <a:avLst/>
          </a:prstGeom>
        </p:spPr>
      </p:pic>
      <p:sp>
        <p:nvSpPr>
          <p:cNvPr id="6" name="Line 4">
            <a:extLst>
              <a:ext uri="{FF2B5EF4-FFF2-40B4-BE49-F238E27FC236}">
                <a16:creationId xmlns:a16="http://schemas.microsoft.com/office/drawing/2014/main" id="{F0CBA323-B23B-B8D5-2A87-D02E2F5D842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" y="2174267"/>
            <a:ext cx="9144001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9" name="Google Shape;45;p11">
            <a:extLst>
              <a:ext uri="{FF2B5EF4-FFF2-40B4-BE49-F238E27FC236}">
                <a16:creationId xmlns:a16="http://schemas.microsoft.com/office/drawing/2014/main" id="{0A2FB19C-F042-32A4-D589-645A3BB118E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11700" y="2175681"/>
            <a:ext cx="8520600" cy="61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 sz="3200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 algn="r">
              <a:buSzPts val="12000"/>
            </a:pPr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5779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36D3067-94B5-FAD7-1097-761E4B0E12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466" y="4762362"/>
            <a:ext cx="1477534" cy="38113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6591256-49ED-E0B6-A113-34251EC0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8724"/>
            <a:ext cx="8520600" cy="376023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>
            <a:lvl1pPr>
              <a:defRPr lang="ko-KR" altLang="en-US" sz="1800" b="1" dirty="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A44B4E-DC07-EA82-8A2B-C9D2D5933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746" b="3404"/>
          <a:stretch/>
        </p:blipFill>
        <p:spPr>
          <a:xfrm>
            <a:off x="0" y="4694643"/>
            <a:ext cx="9144000" cy="18013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9FFB642-FA95-26BE-BE6C-5D4B470425A3}"/>
              </a:ext>
            </a:extLst>
          </p:cNvPr>
          <p:cNvCxnSpPr>
            <a:cxnSpLocks/>
          </p:cNvCxnSpPr>
          <p:nvPr userDrawn="1"/>
        </p:nvCxnSpPr>
        <p:spPr>
          <a:xfrm>
            <a:off x="306000" y="644748"/>
            <a:ext cx="8532000" cy="0"/>
          </a:xfrm>
          <a:prstGeom prst="line">
            <a:avLst/>
          </a:prstGeom>
          <a:ln w="28575">
            <a:gradFill flip="none" rotWithShape="1">
              <a:gsLst>
                <a:gs pos="64000">
                  <a:srgbClr val="607AE2"/>
                </a:gs>
                <a:gs pos="0">
                  <a:srgbClr val="0E1A4E"/>
                </a:gs>
                <a:gs pos="100000">
                  <a:srgbClr val="4596F9"/>
                </a:gs>
                <a:gs pos="19000">
                  <a:srgbClr val="1B329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49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3D46682-115E-6D23-5264-E1DCC0B61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DDA2636-14C9-84A0-FEEC-F2B0ACF839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644" y="4392690"/>
            <a:ext cx="2248712" cy="5800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15F3AE-B251-F84F-D40B-D7D3B77FFD95}"/>
              </a:ext>
            </a:extLst>
          </p:cNvPr>
          <p:cNvSpPr txBox="1"/>
          <p:nvPr/>
        </p:nvSpPr>
        <p:spPr>
          <a:xfrm>
            <a:off x="0" y="1360875"/>
            <a:ext cx="9144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400" dirty="0">
                <a:solidFill>
                  <a:srgbClr val="2F88FF"/>
                </a:solidFill>
                <a:latin typeface="+mj-ea"/>
                <a:ea typeface="+mj-ea"/>
              </a:rPr>
              <a:t>AI</a:t>
            </a:r>
            <a:r>
              <a:rPr lang="ko-KR" altLang="en-US" sz="3400" dirty="0">
                <a:solidFill>
                  <a:srgbClr val="2F88FF"/>
                </a:solidFill>
                <a:latin typeface="+mj-ea"/>
                <a:ea typeface="+mj-ea"/>
              </a:rPr>
              <a:t>상담사</a:t>
            </a:r>
            <a:r>
              <a:rPr lang="en-US" altLang="ko-KR" sz="3400" dirty="0">
                <a:solidFill>
                  <a:srgbClr val="2F88FF"/>
                </a:solidFill>
                <a:latin typeface="+mj-ea"/>
                <a:ea typeface="+mj-ea"/>
              </a:rPr>
              <a:t> </a:t>
            </a:r>
            <a:r>
              <a:rPr lang="ko-KR" altLang="en-US" sz="3400" dirty="0">
                <a:solidFill>
                  <a:srgbClr val="2F88FF"/>
                </a:solidFill>
                <a:latin typeface="+mj-ea"/>
                <a:ea typeface="+mj-ea"/>
              </a:rPr>
              <a:t>구축</a:t>
            </a:r>
            <a:r>
              <a:rPr lang="en-US" altLang="ko-KR" sz="3400" dirty="0">
                <a:solidFill>
                  <a:srgbClr val="2F88FF"/>
                </a:solidFill>
                <a:latin typeface="+mj-ea"/>
                <a:ea typeface="+mj-ea"/>
              </a:rPr>
              <a:t> </a:t>
            </a:r>
            <a:r>
              <a:rPr lang="ko-KR" altLang="en-US" sz="3400" dirty="0">
                <a:solidFill>
                  <a:srgbClr val="2F88FF"/>
                </a:solidFill>
                <a:latin typeface="+mj-ea"/>
                <a:ea typeface="+mj-ea"/>
              </a:rPr>
              <a:t>사례</a:t>
            </a:r>
            <a:r>
              <a:rPr lang="en-US" altLang="ko-KR" sz="3400" dirty="0">
                <a:solidFill>
                  <a:srgbClr val="2F88FF"/>
                </a:solidFill>
                <a:latin typeface="+mj-ea"/>
                <a:ea typeface="+mj-ea"/>
              </a:rPr>
              <a:t> </a:t>
            </a:r>
            <a:r>
              <a:rPr lang="ko-KR" altLang="en-US" sz="3400" dirty="0">
                <a:solidFill>
                  <a:srgbClr val="2F88FF"/>
                </a:solidFill>
                <a:latin typeface="+mj-ea"/>
                <a:ea typeface="+mj-ea"/>
              </a:rPr>
              <a:t>공유</a:t>
            </a:r>
          </a:p>
        </p:txBody>
      </p:sp>
    </p:spTree>
    <p:extLst>
      <p:ext uri="{BB962C8B-B14F-4D97-AF65-F5344CB8AC3E}">
        <p14:creationId xmlns:p14="http://schemas.microsoft.com/office/powerpoint/2010/main" val="2195023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B8E32C0-B1A2-0816-6CD6-C4A6CD140487}"/>
              </a:ext>
            </a:extLst>
          </p:cNvPr>
          <p:cNvSpPr txBox="1">
            <a:spLocks/>
          </p:cNvSpPr>
          <p:nvPr/>
        </p:nvSpPr>
        <p:spPr>
          <a:xfrm>
            <a:off x="331839" y="2190140"/>
            <a:ext cx="8480323" cy="61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3200" b="0" i="0" u="none" strike="noStrike" cap="none">
                <a:solidFill>
                  <a:schemeClr val="bg1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/>
              <a:t>개념 정리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39815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1E15910-41DB-BC58-AD4B-CA5C7B7BBAFA}"/>
              </a:ext>
            </a:extLst>
          </p:cNvPr>
          <p:cNvSpPr/>
          <p:nvPr/>
        </p:nvSpPr>
        <p:spPr>
          <a:xfrm>
            <a:off x="311699" y="973394"/>
            <a:ext cx="8466997" cy="3554361"/>
          </a:xfrm>
          <a:prstGeom prst="roundRect">
            <a:avLst>
              <a:gd name="adj" fmla="val 4634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9A9FBA6-633B-2204-7ABD-9B47A1A4FA6E}"/>
              </a:ext>
            </a:extLst>
          </p:cNvPr>
          <p:cNvSpPr/>
          <p:nvPr/>
        </p:nvSpPr>
        <p:spPr>
          <a:xfrm>
            <a:off x="485424" y="1652535"/>
            <a:ext cx="8017024" cy="2764607"/>
          </a:xfrm>
          <a:prstGeom prst="roundRect">
            <a:avLst>
              <a:gd name="adj" fmla="val 4634"/>
            </a:avLst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9187107-97D6-B335-0154-CC7659B1CE29}"/>
              </a:ext>
            </a:extLst>
          </p:cNvPr>
          <p:cNvSpPr/>
          <p:nvPr/>
        </p:nvSpPr>
        <p:spPr>
          <a:xfrm>
            <a:off x="649474" y="2627774"/>
            <a:ext cx="7610979" cy="1686393"/>
          </a:xfrm>
          <a:prstGeom prst="roundRect">
            <a:avLst>
              <a:gd name="adj" fmla="val 4634"/>
            </a:avLst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8060AE0-AC0A-B6FD-63AF-451CA9F41B09}"/>
              </a:ext>
            </a:extLst>
          </p:cNvPr>
          <p:cNvSpPr/>
          <p:nvPr/>
        </p:nvSpPr>
        <p:spPr>
          <a:xfrm>
            <a:off x="567135" y="1505870"/>
            <a:ext cx="3093193" cy="292388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CA64236-A545-F246-7D0B-57BFE7B2CA10}"/>
              </a:ext>
            </a:extLst>
          </p:cNvPr>
          <p:cNvSpPr/>
          <p:nvPr/>
        </p:nvSpPr>
        <p:spPr>
          <a:xfrm>
            <a:off x="365304" y="844213"/>
            <a:ext cx="3093193" cy="292388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C32A8EF-3B0F-DA78-5147-787DD68E8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AI </a:t>
            </a:r>
            <a:r>
              <a:rPr lang="ko-KR" altLang="en-US" dirty="0"/>
              <a:t>개념 정리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71BA51A-E4CB-018B-5F87-E9624B559B07}"/>
              </a:ext>
            </a:extLst>
          </p:cNvPr>
          <p:cNvGrpSpPr/>
          <p:nvPr/>
        </p:nvGrpSpPr>
        <p:grpSpPr>
          <a:xfrm>
            <a:off x="437805" y="913806"/>
            <a:ext cx="203748" cy="123442"/>
            <a:chOff x="5916010" y="1808820"/>
            <a:chExt cx="271188" cy="164299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69416AC-8B67-87F9-05F2-0FC8EC612D52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16CA6F1-B409-315E-A430-97A657FEBC85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0C43D39-E047-5143-83E8-78A758A20D92}"/>
              </a:ext>
            </a:extLst>
          </p:cNvPr>
          <p:cNvSpPr txBox="1"/>
          <p:nvPr/>
        </p:nvSpPr>
        <p:spPr>
          <a:xfrm>
            <a:off x="641553" y="829333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인공지능</a:t>
            </a: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(</a:t>
            </a:r>
            <a:r>
              <a:rPr kumimoji="0" lang="en-US" altLang="ko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AI, Artificial Intelligence)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731001-6624-7A02-D1A5-5CC765E43359}"/>
              </a:ext>
            </a:extLst>
          </p:cNvPr>
          <p:cNvSpPr txBox="1"/>
          <p:nvPr/>
        </p:nvSpPr>
        <p:spPr>
          <a:xfrm>
            <a:off x="525025" y="1187527"/>
            <a:ext cx="8307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인간의 지능적인 행동을 컴퓨터로 구현하려는 기술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3B38AB4C-B396-3AD4-EACA-2E0DB601248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95423" y="1236026"/>
            <a:ext cx="180000" cy="1800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F6D7FAFA-047E-56F6-902B-5CC3109F1649}"/>
              </a:ext>
            </a:extLst>
          </p:cNvPr>
          <p:cNvGrpSpPr/>
          <p:nvPr/>
        </p:nvGrpSpPr>
        <p:grpSpPr>
          <a:xfrm>
            <a:off x="641553" y="1590343"/>
            <a:ext cx="203748" cy="123442"/>
            <a:chOff x="5916010" y="1808820"/>
            <a:chExt cx="271188" cy="164299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544B6523-4E24-6085-CBC3-059960848BC1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2D78AE74-434D-003A-158A-89AF6D2E256F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10C9642-986F-195C-5F11-C8392BC3EC32}"/>
              </a:ext>
            </a:extLst>
          </p:cNvPr>
          <p:cNvSpPr txBox="1"/>
          <p:nvPr/>
        </p:nvSpPr>
        <p:spPr>
          <a:xfrm>
            <a:off x="845301" y="150587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kumimoji="0" sz="1300" b="1" kern="0" spc="0" normalizeH="0" baseline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 err="1"/>
              <a:t>머신러닝</a:t>
            </a:r>
            <a:r>
              <a:rPr lang="en-US" altLang="ko-KR" dirty="0"/>
              <a:t>(Machine Learning)</a:t>
            </a:r>
            <a:endParaRPr lang="en-US" altLang="ko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FB397E-22D4-1D47-4B0D-6C839F3F09EB}"/>
              </a:ext>
            </a:extLst>
          </p:cNvPr>
          <p:cNvSpPr txBox="1"/>
          <p:nvPr/>
        </p:nvSpPr>
        <p:spPr>
          <a:xfrm>
            <a:off x="721860" y="1857846"/>
            <a:ext cx="76109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구현하는 방법 중 하나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21129C80-546B-6B8C-2FCF-6C551096D954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592258" y="1906345"/>
            <a:ext cx="180000" cy="180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C092C32-C8BD-C16A-B9CE-5D7FA408E4A2}"/>
              </a:ext>
            </a:extLst>
          </p:cNvPr>
          <p:cNvSpPr txBox="1"/>
          <p:nvPr/>
        </p:nvSpPr>
        <p:spPr>
          <a:xfrm>
            <a:off x="721860" y="2145933"/>
            <a:ext cx="76109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사람이 규칙을 일일이 짜지 않고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데이터로부터 스스로 학습하게 하는 기술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BA58C119-7A35-FD42-4688-C7CE1A69A974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592258" y="2194432"/>
            <a:ext cx="180000" cy="180000"/>
          </a:xfrm>
          <a:prstGeom prst="rect">
            <a:avLst/>
          </a:prstGeom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D7A1479-B35C-DDBD-01B2-0A1B335DE073}"/>
              </a:ext>
            </a:extLst>
          </p:cNvPr>
          <p:cNvSpPr/>
          <p:nvPr/>
        </p:nvSpPr>
        <p:spPr>
          <a:xfrm>
            <a:off x="728015" y="2481580"/>
            <a:ext cx="3093193" cy="292388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D363E16-9470-0A9D-EA4D-493B5F41D9E4}"/>
              </a:ext>
            </a:extLst>
          </p:cNvPr>
          <p:cNvGrpSpPr/>
          <p:nvPr/>
        </p:nvGrpSpPr>
        <p:grpSpPr>
          <a:xfrm>
            <a:off x="802433" y="2566053"/>
            <a:ext cx="203748" cy="123442"/>
            <a:chOff x="5916010" y="1808820"/>
            <a:chExt cx="271188" cy="164299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49C71E0D-C967-CB44-67BE-842A6D93611D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AC4929CE-C5B1-0435-29DE-1DF0A15EF8CD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4A037829-50DE-BCD2-6139-4E4A224E3EC4}"/>
              </a:ext>
            </a:extLst>
          </p:cNvPr>
          <p:cNvSpPr txBox="1"/>
          <p:nvPr/>
        </p:nvSpPr>
        <p:spPr>
          <a:xfrm>
            <a:off x="1006181" y="248158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kumimoji="0" sz="1300" b="1" kern="0" spc="0" normalizeH="0" baseline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딥러닝</a:t>
            </a:r>
            <a:r>
              <a:rPr lang="en-US" altLang="ko-KR" dirty="0"/>
              <a:t>(Deep Learning)</a:t>
            </a:r>
            <a:endParaRPr lang="en-US" altLang="ko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A9E180-8971-A284-6146-052AA3EBC674}"/>
              </a:ext>
            </a:extLst>
          </p:cNvPr>
          <p:cNvSpPr txBox="1"/>
          <p:nvPr/>
        </p:nvSpPr>
        <p:spPr>
          <a:xfrm>
            <a:off x="883678" y="2818676"/>
            <a:ext cx="76109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머신러닝의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한 종류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D9464DE5-2B36-E59D-7698-75D4A543C1AD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754076" y="2867175"/>
            <a:ext cx="180000" cy="1800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2CE6FA1E-8D6B-69F4-7AD5-833E2520722E}"/>
              </a:ext>
            </a:extLst>
          </p:cNvPr>
          <p:cNvSpPr txBox="1"/>
          <p:nvPr/>
        </p:nvSpPr>
        <p:spPr>
          <a:xfrm>
            <a:off x="883678" y="3085239"/>
            <a:ext cx="76109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인공신경망을 여러 층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(Deep)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쌓아 복잡한 패턴을 학습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19606DF9-E9EE-0195-DB2D-83CE843E1738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754076" y="3133738"/>
            <a:ext cx="180000" cy="180000"/>
          </a:xfrm>
          <a:prstGeom prst="rect">
            <a:avLst/>
          </a:prstGeom>
        </p:spPr>
      </p:pic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065B7DC-58AB-1895-453C-F3636937E204}"/>
              </a:ext>
            </a:extLst>
          </p:cNvPr>
          <p:cNvSpPr/>
          <p:nvPr/>
        </p:nvSpPr>
        <p:spPr>
          <a:xfrm>
            <a:off x="772259" y="3506394"/>
            <a:ext cx="7302484" cy="734464"/>
          </a:xfrm>
          <a:prstGeom prst="roundRect">
            <a:avLst>
              <a:gd name="adj" fmla="val 4634"/>
            </a:avLst>
          </a:prstGeom>
          <a:solidFill>
            <a:srgbClr val="1E83F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A156FBC-722F-16F6-CADB-A90675E01D63}"/>
              </a:ext>
            </a:extLst>
          </p:cNvPr>
          <p:cNvSpPr/>
          <p:nvPr/>
        </p:nvSpPr>
        <p:spPr>
          <a:xfrm>
            <a:off x="850799" y="3360199"/>
            <a:ext cx="3093193" cy="292388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0226AD1-C663-DF04-DBFE-A42F81D40749}"/>
              </a:ext>
            </a:extLst>
          </p:cNvPr>
          <p:cNvGrpSpPr/>
          <p:nvPr/>
        </p:nvGrpSpPr>
        <p:grpSpPr>
          <a:xfrm>
            <a:off x="925217" y="3444672"/>
            <a:ext cx="203748" cy="123442"/>
            <a:chOff x="5916010" y="1808820"/>
            <a:chExt cx="271188" cy="164299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6CD33D70-02EB-036A-58DC-0B9887BA9231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FF097396-27B2-5299-77AA-38D510F2CE27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236EB60B-7C03-094B-804B-9E718F8BC3A6}"/>
              </a:ext>
            </a:extLst>
          </p:cNvPr>
          <p:cNvSpPr txBox="1"/>
          <p:nvPr/>
        </p:nvSpPr>
        <p:spPr>
          <a:xfrm>
            <a:off x="1128965" y="3360199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kumimoji="0" sz="1300" b="1" kern="0" spc="0" normalizeH="0" baseline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생성형 </a:t>
            </a:r>
            <a:r>
              <a:rPr lang="en-US" altLang="ko-KR" dirty="0"/>
              <a:t>AI(Generative AI)</a:t>
            </a:r>
            <a:endParaRPr lang="en-US" altLang="ko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FC1FC63-D032-E377-5FF8-EF3E7FF045DD}"/>
              </a:ext>
            </a:extLst>
          </p:cNvPr>
          <p:cNvSpPr txBox="1"/>
          <p:nvPr/>
        </p:nvSpPr>
        <p:spPr>
          <a:xfrm>
            <a:off x="1006462" y="3697295"/>
            <a:ext cx="76109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딥러닝을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기반으로 새로운 콘텐츠를 만드는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0816AB94-152F-FCC2-7F73-5B6BBBA624C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876860" y="3745794"/>
            <a:ext cx="180000" cy="180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701CA67-0B6C-50F1-1664-4C74689159F6}"/>
              </a:ext>
            </a:extLst>
          </p:cNvPr>
          <p:cNvSpPr txBox="1"/>
          <p:nvPr/>
        </p:nvSpPr>
        <p:spPr>
          <a:xfrm>
            <a:off x="1006462" y="3963858"/>
            <a:ext cx="76109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새로운 텍스트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음악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 생성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0C33CBA2-02F9-7E51-E04A-89F2A01B2194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876860" y="4012357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372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1BF5D-800F-84FC-6CF1-1EED6AE1A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DB323-C28B-99D2-3F78-AE1C7894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AI </a:t>
            </a:r>
            <a:r>
              <a:rPr lang="ko-KR" altLang="en-US" dirty="0"/>
              <a:t>개념 정리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9170503-292E-8740-AE29-BCD77FA65803}"/>
              </a:ext>
            </a:extLst>
          </p:cNvPr>
          <p:cNvGrpSpPr/>
          <p:nvPr/>
        </p:nvGrpSpPr>
        <p:grpSpPr>
          <a:xfrm>
            <a:off x="437805" y="795822"/>
            <a:ext cx="203748" cy="123442"/>
            <a:chOff x="5916010" y="1808820"/>
            <a:chExt cx="271188" cy="16429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A75BEF92-C8D7-9231-6516-41DDE054E75A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B7503C6-F526-4D66-0565-2FD6C7802A29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1F1BB8E-F6F5-7A2B-4CCB-8386EF56CBBD}"/>
              </a:ext>
            </a:extLst>
          </p:cNvPr>
          <p:cNvSpPr txBox="1"/>
          <p:nvPr/>
        </p:nvSpPr>
        <p:spPr>
          <a:xfrm>
            <a:off x="641553" y="711349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LLM(Large Language Model</a:t>
            </a: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, </a:t>
            </a: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대규모 언어 모델</a:t>
            </a:r>
            <a:r>
              <a:rPr kumimoji="0" lang="en-US" altLang="ko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67CC42-8961-51F4-5293-8B1CC8688177}"/>
              </a:ext>
            </a:extLst>
          </p:cNvPr>
          <p:cNvSpPr txBox="1"/>
          <p:nvPr/>
        </p:nvSpPr>
        <p:spPr>
          <a:xfrm>
            <a:off x="525025" y="1047421"/>
            <a:ext cx="8307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텍스트에 특화된 생성형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한 종류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DE4F6D5-2316-BD23-BEB9-C366D7AAEA53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95423" y="1082759"/>
            <a:ext cx="180000" cy="18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B73D4F-C6BD-D896-2740-15FCDF452573}"/>
              </a:ext>
            </a:extLst>
          </p:cNvPr>
          <p:cNvSpPr txBox="1"/>
          <p:nvPr/>
        </p:nvSpPr>
        <p:spPr>
          <a:xfrm>
            <a:off x="525025" y="1303249"/>
            <a:ext cx="8307272" cy="305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문장의 의미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문맥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패턴을 학습하여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다음에 올 단어를 예측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하는 방식으로 인간 처럼 대화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166CB7F-E4DD-9ABD-C682-2CD6ED36E17B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95423" y="1366208"/>
            <a:ext cx="180000" cy="18000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D18FB42E-50E2-4BD5-BA0E-10A00478D2BB}"/>
              </a:ext>
            </a:extLst>
          </p:cNvPr>
          <p:cNvGrpSpPr/>
          <p:nvPr/>
        </p:nvGrpSpPr>
        <p:grpSpPr>
          <a:xfrm>
            <a:off x="437805" y="1797089"/>
            <a:ext cx="203748" cy="123442"/>
            <a:chOff x="5916010" y="1808820"/>
            <a:chExt cx="271188" cy="164299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6EF37B8F-078A-FB43-D6AF-3EB01789778C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9AFD5444-256D-CFD6-1F44-406C4AA87277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CA24655-CF24-804E-A19D-136B99E97212}"/>
              </a:ext>
            </a:extLst>
          </p:cNvPr>
          <p:cNvSpPr txBox="1"/>
          <p:nvPr/>
        </p:nvSpPr>
        <p:spPr>
          <a:xfrm>
            <a:off x="641553" y="1712616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LLM </a:t>
            </a: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사용하기</a:t>
            </a:r>
            <a:endParaRPr lang="ko-KR" altLang="en-US" dirty="0"/>
          </a:p>
        </p:txBody>
      </p:sp>
      <p:pic>
        <p:nvPicPr>
          <p:cNvPr id="1026" name="Picture 2" descr="Ollama">
            <a:extLst>
              <a:ext uri="{FF2B5EF4-FFF2-40B4-BE49-F238E27FC236}">
                <a16:creationId xmlns:a16="http://schemas.microsoft.com/office/drawing/2014/main" id="{9B537F25-67E1-A26E-5680-2A74DAEBE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72" y="2005004"/>
            <a:ext cx="581794" cy="822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F19FC48-1469-6C73-1804-D64F16F24BA0}"/>
              </a:ext>
            </a:extLst>
          </p:cNvPr>
          <p:cNvSpPr txBox="1"/>
          <p:nvPr/>
        </p:nvSpPr>
        <p:spPr>
          <a:xfrm>
            <a:off x="395423" y="2827346"/>
            <a:ext cx="82869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" sz="13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ollama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F5C683-967C-3321-38BA-F1DDFAC7B3F0}"/>
              </a:ext>
            </a:extLst>
          </p:cNvPr>
          <p:cNvSpPr txBox="1"/>
          <p:nvPr/>
        </p:nvSpPr>
        <p:spPr>
          <a:xfrm>
            <a:off x="1353716" y="2084347"/>
            <a:ext cx="72714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실행하는 도구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8880C876-66C9-A104-2B00-F982F4D5F4FD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224115" y="2119685"/>
            <a:ext cx="180000" cy="180000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B60BCB45-7116-92FA-9716-37C6F531AA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820" y="2345253"/>
            <a:ext cx="4908856" cy="238301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3244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DB3A3-687D-DC79-2D4A-5AEAB665B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9296698-6F7F-4CF9-E4DB-8B392B944EC0}"/>
              </a:ext>
            </a:extLst>
          </p:cNvPr>
          <p:cNvSpPr/>
          <p:nvPr/>
        </p:nvSpPr>
        <p:spPr>
          <a:xfrm>
            <a:off x="296942" y="2258159"/>
            <a:ext cx="4142323" cy="2468858"/>
          </a:xfrm>
          <a:prstGeom prst="roundRect">
            <a:avLst>
              <a:gd name="adj" fmla="val 591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E9FFA5-708B-3600-D3CD-323C909C3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AI </a:t>
            </a:r>
            <a:r>
              <a:rPr lang="ko-KR" altLang="en-US" dirty="0"/>
              <a:t>개념 정리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7DCFF3C-69A3-33A4-9912-DE86B136DFAE}"/>
              </a:ext>
            </a:extLst>
          </p:cNvPr>
          <p:cNvGrpSpPr/>
          <p:nvPr/>
        </p:nvGrpSpPr>
        <p:grpSpPr>
          <a:xfrm>
            <a:off x="437805" y="795822"/>
            <a:ext cx="203748" cy="123442"/>
            <a:chOff x="5916010" y="1808820"/>
            <a:chExt cx="271188" cy="16429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6CDA1FFE-BCD1-4025-2791-10BF5D7DF9E6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DBC9BA1A-6429-98BA-9725-84B2B4B41EFF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EF7FE70-BACB-3331-6AE0-D27AF3B8889D}"/>
              </a:ext>
            </a:extLst>
          </p:cNvPr>
          <p:cNvSpPr txBox="1"/>
          <p:nvPr/>
        </p:nvSpPr>
        <p:spPr>
          <a:xfrm>
            <a:off x="641553" y="711349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LLM</a:t>
            </a: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의 한계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71BED4-CF2B-664B-6EE4-F4EC13898367}"/>
              </a:ext>
            </a:extLst>
          </p:cNvPr>
          <p:cNvSpPr txBox="1"/>
          <p:nvPr/>
        </p:nvSpPr>
        <p:spPr>
          <a:xfrm>
            <a:off x="525025" y="1047421"/>
            <a:ext cx="8307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모델 학습 이후 생성된 정보는 알 수 없음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3AB01B3-EE82-D3AF-3F20-A951F5B643C3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95423" y="1082759"/>
            <a:ext cx="180000" cy="180000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F597C7BF-1545-7812-4A48-6B281CB08707}"/>
              </a:ext>
            </a:extLst>
          </p:cNvPr>
          <p:cNvGrpSpPr/>
          <p:nvPr/>
        </p:nvGrpSpPr>
        <p:grpSpPr>
          <a:xfrm>
            <a:off x="437805" y="1718614"/>
            <a:ext cx="203748" cy="123442"/>
            <a:chOff x="5916010" y="1808820"/>
            <a:chExt cx="271188" cy="164299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D7F59AB-2E73-026B-02CF-5303E83FC40D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827803E-32BB-2E1A-3803-31DD3C2507DD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AEC7FC9-596A-DFB4-8E5A-A9C43F686524}"/>
              </a:ext>
            </a:extLst>
          </p:cNvPr>
          <p:cNvSpPr txBox="1"/>
          <p:nvPr/>
        </p:nvSpPr>
        <p:spPr>
          <a:xfrm>
            <a:off x="641553" y="1634141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RAG(Retrieval-Augmented Generation, </a:t>
            </a:r>
            <a:r>
              <a:rPr kumimoji="0" lang="ko-KR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검색 증강 생성</a:t>
            </a:r>
            <a:r>
              <a:rPr kumimoji="0" lang="en-US" altLang="ko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)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B13C0E-D07A-5762-1013-D7D1580736D8}"/>
              </a:ext>
            </a:extLst>
          </p:cNvPr>
          <p:cNvSpPr txBox="1"/>
          <p:nvPr/>
        </p:nvSpPr>
        <p:spPr>
          <a:xfrm>
            <a:off x="525025" y="1970213"/>
            <a:ext cx="8307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질문과 관련된 내용을 문서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DB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등에서 검색 후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답변을 생성할 수 있도록 프롬프트 구성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216D7EDD-073E-FCB7-004E-D4F5AD6488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95423" y="2005551"/>
            <a:ext cx="180000" cy="18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B62875E-5640-8F43-931F-92F25F81A147}"/>
              </a:ext>
            </a:extLst>
          </p:cNvPr>
          <p:cNvSpPr txBox="1"/>
          <p:nvPr/>
        </p:nvSpPr>
        <p:spPr>
          <a:xfrm>
            <a:off x="525025" y="1312308"/>
            <a:ext cx="8307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공개되지 않은 데이터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사내 문서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개인 자료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학습 불가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7B27C4A-B146-644E-17FA-FC027663601B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95423" y="1347646"/>
            <a:ext cx="180000" cy="180000"/>
          </a:xfrm>
          <a:prstGeom prst="rect">
            <a:avLst/>
          </a:prstGeom>
        </p:spPr>
      </p:pic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283A5D4-6A42-0A69-63FA-20E2BE47A26D}"/>
              </a:ext>
            </a:extLst>
          </p:cNvPr>
          <p:cNvSpPr/>
          <p:nvPr/>
        </p:nvSpPr>
        <p:spPr>
          <a:xfrm>
            <a:off x="395422" y="2584609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데이터 수집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B23CF4-07A8-24DF-9071-3D0A2371997D}"/>
              </a:ext>
            </a:extLst>
          </p:cNvPr>
          <p:cNvSpPr txBox="1"/>
          <p:nvPr/>
        </p:nvSpPr>
        <p:spPr>
          <a:xfrm>
            <a:off x="1623767" y="2664135"/>
            <a:ext cx="2933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Database, PDF, Word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 데이터 수집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019A9D-53C5-8814-248C-9823819E3B73}"/>
              </a:ext>
            </a:extLst>
          </p:cNvPr>
          <p:cNvSpPr txBox="1"/>
          <p:nvPr/>
        </p:nvSpPr>
        <p:spPr>
          <a:xfrm>
            <a:off x="1623767" y="3214551"/>
            <a:ext cx="2933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텍스트를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chunk(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조각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단위로 나눔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75B17C-0E84-C17E-C9CC-8407B436304A}"/>
              </a:ext>
            </a:extLst>
          </p:cNvPr>
          <p:cNvSpPr txBox="1"/>
          <p:nvPr/>
        </p:nvSpPr>
        <p:spPr>
          <a:xfrm>
            <a:off x="1623767" y="3764967"/>
            <a:ext cx="2933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chunk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벡터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값으로 변환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081B3B-EBF4-B4D1-8F67-1F3279159D0E}"/>
              </a:ext>
            </a:extLst>
          </p:cNvPr>
          <p:cNvSpPr txBox="1"/>
          <p:nvPr/>
        </p:nvSpPr>
        <p:spPr>
          <a:xfrm>
            <a:off x="1623767" y="4315384"/>
            <a:ext cx="2933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벡터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DB(FAISS, </a:t>
            </a:r>
            <a:r>
              <a:rPr lang="en-US" altLang="ko-KR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Qdrant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저장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274EE72-A208-ABC4-E071-9BF565255674}"/>
              </a:ext>
            </a:extLst>
          </p:cNvPr>
          <p:cNvSpPr/>
          <p:nvPr/>
        </p:nvSpPr>
        <p:spPr>
          <a:xfrm>
            <a:off x="395422" y="3140660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전처리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848E905-D1FC-2DCE-18EA-E86A79ADA33B}"/>
              </a:ext>
            </a:extLst>
          </p:cNvPr>
          <p:cNvSpPr/>
          <p:nvPr/>
        </p:nvSpPr>
        <p:spPr>
          <a:xfrm>
            <a:off x="395422" y="3696711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임베딩</a:t>
            </a:r>
            <a:endParaRPr lang="en-US" altLang="ko-KR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algn="ctr"/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(embedding)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02DA74DF-B17F-B28B-4BDD-23828E9F1592}"/>
              </a:ext>
            </a:extLst>
          </p:cNvPr>
          <p:cNvSpPr/>
          <p:nvPr/>
        </p:nvSpPr>
        <p:spPr>
          <a:xfrm>
            <a:off x="395422" y="4252761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벡터 값 저장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581015-40B2-F578-41FA-5A64CE86F9DE}"/>
              </a:ext>
            </a:extLst>
          </p:cNvPr>
          <p:cNvSpPr txBox="1"/>
          <p:nvPr/>
        </p:nvSpPr>
        <p:spPr>
          <a:xfrm>
            <a:off x="303672" y="2292820"/>
            <a:ext cx="19445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데이터 저장 과정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D160E17-1FF1-DBB9-16D8-4C3222213EE3}"/>
              </a:ext>
            </a:extLst>
          </p:cNvPr>
          <p:cNvSpPr/>
          <p:nvPr/>
        </p:nvSpPr>
        <p:spPr>
          <a:xfrm>
            <a:off x="4571999" y="2258159"/>
            <a:ext cx="4348799" cy="2468858"/>
          </a:xfrm>
          <a:prstGeom prst="roundRect">
            <a:avLst>
              <a:gd name="adj" fmla="val 591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3B40196-302C-E5F3-35ED-724C7E57B2C6}"/>
              </a:ext>
            </a:extLst>
          </p:cNvPr>
          <p:cNvSpPr/>
          <p:nvPr/>
        </p:nvSpPr>
        <p:spPr>
          <a:xfrm>
            <a:off x="4683324" y="2584609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질문 입력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AF0C65F-9AE1-0CFC-9E30-98445C40104B}"/>
              </a:ext>
            </a:extLst>
          </p:cNvPr>
          <p:cNvSpPr/>
          <p:nvPr/>
        </p:nvSpPr>
        <p:spPr>
          <a:xfrm>
            <a:off x="4683324" y="3140660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임베딩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8C7DD551-40FB-F466-5AD0-C3103A383BBF}"/>
              </a:ext>
            </a:extLst>
          </p:cNvPr>
          <p:cNvSpPr/>
          <p:nvPr/>
        </p:nvSpPr>
        <p:spPr>
          <a:xfrm>
            <a:off x="4683324" y="3696711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유사도 검증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90B3C20-E826-FA86-C802-B629EAC8E103}"/>
              </a:ext>
            </a:extLst>
          </p:cNvPr>
          <p:cNvSpPr/>
          <p:nvPr/>
        </p:nvSpPr>
        <p:spPr>
          <a:xfrm>
            <a:off x="4683324" y="4252761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답변 생성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3B7763-9D21-5EE0-7897-F146CCF78731}"/>
              </a:ext>
            </a:extLst>
          </p:cNvPr>
          <p:cNvSpPr txBox="1"/>
          <p:nvPr/>
        </p:nvSpPr>
        <p:spPr>
          <a:xfrm>
            <a:off x="5911671" y="2664135"/>
            <a:ext cx="2933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질문 입력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675E18-0E33-79B8-45C8-149B7BF9DDCF}"/>
              </a:ext>
            </a:extLst>
          </p:cNvPr>
          <p:cNvSpPr txBox="1"/>
          <p:nvPr/>
        </p:nvSpPr>
        <p:spPr>
          <a:xfrm>
            <a:off x="5911671" y="3214551"/>
            <a:ext cx="2933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질문을 벡터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값으로 변환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15E7A8-7AA8-C170-4543-F4A9BD2969DC}"/>
              </a:ext>
            </a:extLst>
          </p:cNvPr>
          <p:cNvSpPr txBox="1"/>
          <p:nvPr/>
        </p:nvSpPr>
        <p:spPr>
          <a:xfrm>
            <a:off x="5911671" y="3764967"/>
            <a:ext cx="2933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벡터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값을 기반으로 유사한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chunk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추출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FFFFDA-7DF1-D0F7-0A85-477ECE91B27D}"/>
              </a:ext>
            </a:extLst>
          </p:cNvPr>
          <p:cNvSpPr txBox="1"/>
          <p:nvPr/>
        </p:nvSpPr>
        <p:spPr>
          <a:xfrm>
            <a:off x="5911671" y="4315384"/>
            <a:ext cx="31842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추출된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chunk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기반으로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답변 생성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E91A67-3F5B-2B22-A0E2-86679B178165}"/>
              </a:ext>
            </a:extLst>
          </p:cNvPr>
          <p:cNvSpPr txBox="1"/>
          <p:nvPr/>
        </p:nvSpPr>
        <p:spPr>
          <a:xfrm>
            <a:off x="4577725" y="2292820"/>
            <a:ext cx="16443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답변 생성 과정</a:t>
            </a:r>
            <a:r>
              <a:rPr lang="en-US" altLang="ko-KR" sz="12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화살표: 아래쪽 49">
            <a:extLst>
              <a:ext uri="{FF2B5EF4-FFF2-40B4-BE49-F238E27FC236}">
                <a16:creationId xmlns:a16="http://schemas.microsoft.com/office/drawing/2014/main" id="{06D6A7D5-2479-01E7-84C5-7FAA5FC4DD90}"/>
              </a:ext>
            </a:extLst>
          </p:cNvPr>
          <p:cNvSpPr/>
          <p:nvPr/>
        </p:nvSpPr>
        <p:spPr>
          <a:xfrm>
            <a:off x="924068" y="2986855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화살표: 아래쪽 50">
            <a:extLst>
              <a:ext uri="{FF2B5EF4-FFF2-40B4-BE49-F238E27FC236}">
                <a16:creationId xmlns:a16="http://schemas.microsoft.com/office/drawing/2014/main" id="{B1BBB1DB-C82E-BA66-8449-CB05334EDC27}"/>
              </a:ext>
            </a:extLst>
          </p:cNvPr>
          <p:cNvSpPr/>
          <p:nvPr/>
        </p:nvSpPr>
        <p:spPr>
          <a:xfrm>
            <a:off x="924068" y="3553853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화살표: 아래쪽 51">
            <a:extLst>
              <a:ext uri="{FF2B5EF4-FFF2-40B4-BE49-F238E27FC236}">
                <a16:creationId xmlns:a16="http://schemas.microsoft.com/office/drawing/2014/main" id="{1F125D84-3C09-5661-8A34-DE84EE8FC440}"/>
              </a:ext>
            </a:extLst>
          </p:cNvPr>
          <p:cNvSpPr/>
          <p:nvPr/>
        </p:nvSpPr>
        <p:spPr>
          <a:xfrm>
            <a:off x="924068" y="4108799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화살표: 아래쪽 52">
            <a:extLst>
              <a:ext uri="{FF2B5EF4-FFF2-40B4-BE49-F238E27FC236}">
                <a16:creationId xmlns:a16="http://schemas.microsoft.com/office/drawing/2014/main" id="{B8E1E466-8C05-5559-A855-E40CB772450C}"/>
              </a:ext>
            </a:extLst>
          </p:cNvPr>
          <p:cNvSpPr/>
          <p:nvPr/>
        </p:nvSpPr>
        <p:spPr>
          <a:xfrm>
            <a:off x="5211970" y="2986855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화살표: 아래쪽 53">
            <a:extLst>
              <a:ext uri="{FF2B5EF4-FFF2-40B4-BE49-F238E27FC236}">
                <a16:creationId xmlns:a16="http://schemas.microsoft.com/office/drawing/2014/main" id="{3063EC1A-8115-F6F2-5ED1-EF68A59907F5}"/>
              </a:ext>
            </a:extLst>
          </p:cNvPr>
          <p:cNvSpPr/>
          <p:nvPr/>
        </p:nvSpPr>
        <p:spPr>
          <a:xfrm>
            <a:off x="5211970" y="3553853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화살표: 아래쪽 56">
            <a:extLst>
              <a:ext uri="{FF2B5EF4-FFF2-40B4-BE49-F238E27FC236}">
                <a16:creationId xmlns:a16="http://schemas.microsoft.com/office/drawing/2014/main" id="{4D670BC5-D4CD-7768-AB0E-EE548EBBBA30}"/>
              </a:ext>
            </a:extLst>
          </p:cNvPr>
          <p:cNvSpPr/>
          <p:nvPr/>
        </p:nvSpPr>
        <p:spPr>
          <a:xfrm>
            <a:off x="5211970" y="4108799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510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A9402-742E-A22B-0527-62AC002E8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AA4FC59-B746-30FC-14E4-8A3CC3E9365C}"/>
              </a:ext>
            </a:extLst>
          </p:cNvPr>
          <p:cNvSpPr txBox="1">
            <a:spLocks/>
          </p:cNvSpPr>
          <p:nvPr/>
        </p:nvSpPr>
        <p:spPr>
          <a:xfrm>
            <a:off x="331839" y="2190140"/>
            <a:ext cx="8480323" cy="61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3200" b="0" i="0" u="none" strike="noStrike" cap="none">
                <a:solidFill>
                  <a:schemeClr val="bg1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AI</a:t>
            </a:r>
            <a:r>
              <a:rPr lang="ko-KR" altLang="en-US" dirty="0"/>
              <a:t>상담사 구축 하기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2286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A7360-EBBC-EAA3-8E7D-D692C4120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8968E11-82CE-249F-18E5-8331DED589A6}"/>
              </a:ext>
            </a:extLst>
          </p:cNvPr>
          <p:cNvSpPr/>
          <p:nvPr/>
        </p:nvSpPr>
        <p:spPr>
          <a:xfrm>
            <a:off x="1546917" y="1249702"/>
            <a:ext cx="6917195" cy="2434158"/>
          </a:xfrm>
          <a:prstGeom prst="roundRect">
            <a:avLst>
              <a:gd name="adj" fmla="val 5087"/>
            </a:avLst>
          </a:prstGeom>
          <a:noFill/>
          <a:ln w="28575">
            <a:solidFill>
              <a:srgbClr val="F798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5E905ABF-9B02-3FD8-0EF9-624DCE8B3209}"/>
              </a:ext>
            </a:extLst>
          </p:cNvPr>
          <p:cNvSpPr/>
          <p:nvPr/>
        </p:nvSpPr>
        <p:spPr>
          <a:xfrm>
            <a:off x="1704760" y="1656059"/>
            <a:ext cx="4323349" cy="1820091"/>
          </a:xfrm>
          <a:prstGeom prst="roundRect">
            <a:avLst>
              <a:gd name="adj" fmla="val 4634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385EEFEB-0F3D-A617-2638-F2AEA63C1C18}"/>
              </a:ext>
            </a:extLst>
          </p:cNvPr>
          <p:cNvSpPr/>
          <p:nvPr/>
        </p:nvSpPr>
        <p:spPr>
          <a:xfrm>
            <a:off x="1859620" y="1935493"/>
            <a:ext cx="1248064" cy="1440224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307BF009-66EB-5176-5880-574AE199D6C9}"/>
              </a:ext>
            </a:extLst>
          </p:cNvPr>
          <p:cNvSpPr/>
          <p:nvPr/>
        </p:nvSpPr>
        <p:spPr>
          <a:xfrm>
            <a:off x="3242008" y="1935493"/>
            <a:ext cx="1248064" cy="962132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EDD10DFB-7007-7E5E-940D-32CB601D33BC}"/>
              </a:ext>
            </a:extLst>
          </p:cNvPr>
          <p:cNvSpPr/>
          <p:nvPr/>
        </p:nvSpPr>
        <p:spPr>
          <a:xfrm>
            <a:off x="4622486" y="1935493"/>
            <a:ext cx="1248064" cy="1440224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4E103523-33A8-CB59-0124-352DFB7D7D61}"/>
              </a:ext>
            </a:extLst>
          </p:cNvPr>
          <p:cNvSpPr/>
          <p:nvPr/>
        </p:nvSpPr>
        <p:spPr>
          <a:xfrm>
            <a:off x="1798785" y="1530011"/>
            <a:ext cx="1391304" cy="292388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000000"/>
                </a:solidFill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SERVER</a:t>
            </a:r>
            <a:r>
              <a:rPr lang="en-US" altLang="ko-KR" sz="1200" b="1" dirty="0">
                <a:solidFill>
                  <a:srgbClr val="F7981F"/>
                </a:solidFill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(EC2)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162D25-05C0-F818-6363-F7435DC2D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상담사 구축 하기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337DE78-8792-4902-5F69-22C7F2CCDDB2}"/>
              </a:ext>
            </a:extLst>
          </p:cNvPr>
          <p:cNvGrpSpPr/>
          <p:nvPr/>
        </p:nvGrpSpPr>
        <p:grpSpPr>
          <a:xfrm>
            <a:off x="437805" y="795822"/>
            <a:ext cx="203748" cy="123442"/>
            <a:chOff x="5916010" y="1808820"/>
            <a:chExt cx="271188" cy="16429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9CF86363-5B91-0066-3247-9DE09A836C88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387DD691-63A2-194D-8664-3D2354548886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78789F7-9C42-E352-F082-10E3B8326705}"/>
              </a:ext>
            </a:extLst>
          </p:cNvPr>
          <p:cNvSpPr txBox="1"/>
          <p:nvPr/>
        </p:nvSpPr>
        <p:spPr>
          <a:xfrm>
            <a:off x="641553" y="711349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쇼핑몰 구축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AD7611E-C9BB-6183-69BD-2A3BBDCD1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157" y="957313"/>
            <a:ext cx="835052" cy="51668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F57C8E9-C331-8E2F-6CE6-609A49C9ED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55" y="2150681"/>
            <a:ext cx="900000" cy="900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60E790F-A31E-427E-03BD-553FD692035F}"/>
              </a:ext>
            </a:extLst>
          </p:cNvPr>
          <p:cNvSpPr txBox="1"/>
          <p:nvPr/>
        </p:nvSpPr>
        <p:spPr>
          <a:xfrm>
            <a:off x="233825" y="3006227"/>
            <a:ext cx="1052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300" b="1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en-US" altLang="ko-KR" sz="1200" dirty="0"/>
              <a:t>CLIENT</a:t>
            </a:r>
            <a:endParaRPr lang="ko-KR" altLang="en-US" sz="1200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033F2B5-36AC-AE8F-A8C9-7998706CC872}"/>
              </a:ext>
            </a:extLst>
          </p:cNvPr>
          <p:cNvCxnSpPr>
            <a:cxnSpLocks/>
          </p:cNvCxnSpPr>
          <p:nvPr/>
        </p:nvCxnSpPr>
        <p:spPr>
          <a:xfrm>
            <a:off x="1232818" y="2659656"/>
            <a:ext cx="626802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그림 74">
            <a:extLst>
              <a:ext uri="{FF2B5EF4-FFF2-40B4-BE49-F238E27FC236}">
                <a16:creationId xmlns:a16="http://schemas.microsoft.com/office/drawing/2014/main" id="{5EA682AF-0FAD-E2E3-E65A-615B90FD246B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033652" y="2396855"/>
            <a:ext cx="900000" cy="360000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1244603E-65BD-B4B9-C0E1-466B9411B5D3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rcRect t="21747" b="17822"/>
          <a:stretch>
            <a:fillRect/>
          </a:stretch>
        </p:blipFill>
        <p:spPr>
          <a:xfrm>
            <a:off x="1943652" y="2788721"/>
            <a:ext cx="1080000" cy="360000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21CABA73-C723-21F7-1E40-C9621D7E0AFE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416040" y="2344960"/>
            <a:ext cx="900000" cy="432000"/>
          </a:xfrm>
          <a:prstGeom prst="rect">
            <a:avLst/>
          </a:prstGeom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AE2DBF26-9888-A275-760F-854F27CDF26E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rcRect l="6512" t="25717" r="7287" b="26027"/>
          <a:stretch>
            <a:fillRect/>
          </a:stretch>
        </p:blipFill>
        <p:spPr>
          <a:xfrm>
            <a:off x="4706518" y="2377981"/>
            <a:ext cx="1080000" cy="360000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D555ADE9-B1CD-8794-EEA3-E7484C429DFD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rcRect l="19136" t="35589" r="19496" b="35515"/>
          <a:stretch>
            <a:fillRect/>
          </a:stretch>
        </p:blipFill>
        <p:spPr>
          <a:xfrm>
            <a:off x="4616518" y="2843721"/>
            <a:ext cx="1260000" cy="324000"/>
          </a:xfrm>
          <a:prstGeom prst="rect">
            <a:avLst/>
          </a:prstGeom>
        </p:spPr>
      </p:pic>
      <p:sp>
        <p:nvSpPr>
          <p:cNvPr id="100" name="사각형: 둥근 위쪽 모서리 99">
            <a:extLst>
              <a:ext uri="{FF2B5EF4-FFF2-40B4-BE49-F238E27FC236}">
                <a16:creationId xmlns:a16="http://schemas.microsoft.com/office/drawing/2014/main" id="{A302B000-145A-6A5B-827D-3CC6681DBFAA}"/>
              </a:ext>
            </a:extLst>
          </p:cNvPr>
          <p:cNvSpPr/>
          <p:nvPr/>
        </p:nvSpPr>
        <p:spPr>
          <a:xfrm>
            <a:off x="1859620" y="1929680"/>
            <a:ext cx="1248064" cy="316196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Frontend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101" name="사각형: 둥근 위쪽 모서리 100">
            <a:extLst>
              <a:ext uri="{FF2B5EF4-FFF2-40B4-BE49-F238E27FC236}">
                <a16:creationId xmlns:a16="http://schemas.microsoft.com/office/drawing/2014/main" id="{AE0A3C2A-9265-471A-D95E-2817B8CCE2F1}"/>
              </a:ext>
            </a:extLst>
          </p:cNvPr>
          <p:cNvSpPr/>
          <p:nvPr/>
        </p:nvSpPr>
        <p:spPr>
          <a:xfrm>
            <a:off x="3242008" y="1929680"/>
            <a:ext cx="1248064" cy="316196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Backend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102" name="사각형: 둥근 위쪽 모서리 101">
            <a:extLst>
              <a:ext uri="{FF2B5EF4-FFF2-40B4-BE49-F238E27FC236}">
                <a16:creationId xmlns:a16="http://schemas.microsoft.com/office/drawing/2014/main" id="{25C1B7F9-8175-48B4-F5D5-EF60A8866D99}"/>
              </a:ext>
            </a:extLst>
          </p:cNvPr>
          <p:cNvSpPr/>
          <p:nvPr/>
        </p:nvSpPr>
        <p:spPr>
          <a:xfrm>
            <a:off x="4622486" y="1929680"/>
            <a:ext cx="1248064" cy="316196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DB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4293BBBD-0DEB-F77A-1546-DF3186F84028}"/>
              </a:ext>
            </a:extLst>
          </p:cNvPr>
          <p:cNvSpPr/>
          <p:nvPr/>
        </p:nvSpPr>
        <p:spPr>
          <a:xfrm>
            <a:off x="6609978" y="1656060"/>
            <a:ext cx="1631205" cy="1068172"/>
          </a:xfrm>
          <a:prstGeom prst="roundRect">
            <a:avLst>
              <a:gd name="adj" fmla="val 4634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530CFE2B-388D-FFEC-93D5-5231D9CEB963}"/>
              </a:ext>
            </a:extLst>
          </p:cNvPr>
          <p:cNvSpPr/>
          <p:nvPr/>
        </p:nvSpPr>
        <p:spPr>
          <a:xfrm>
            <a:off x="6729928" y="1530011"/>
            <a:ext cx="1391304" cy="292388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000000"/>
                </a:solidFill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DB</a:t>
            </a:r>
            <a:r>
              <a:rPr lang="en-US" altLang="ko-KR" sz="1200" b="1" dirty="0">
                <a:solidFill>
                  <a:srgbClr val="F7981F"/>
                </a:solidFill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(RDS)</a:t>
            </a:r>
          </a:p>
        </p:txBody>
      </p:sp>
      <p:pic>
        <p:nvPicPr>
          <p:cNvPr id="108" name="그림 107">
            <a:extLst>
              <a:ext uri="{FF2B5EF4-FFF2-40B4-BE49-F238E27FC236}">
                <a16:creationId xmlns:a16="http://schemas.microsoft.com/office/drawing/2014/main" id="{A33BEA53-6D59-77B8-B84F-110F8D88ACAC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885580" y="1958757"/>
            <a:ext cx="1080000" cy="540000"/>
          </a:xfrm>
          <a:prstGeom prst="rect">
            <a:avLst/>
          </a:prstGeom>
        </p:spPr>
      </p:pic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938D94FF-FB38-3111-CAD8-509C5D9E4938}"/>
              </a:ext>
            </a:extLst>
          </p:cNvPr>
          <p:cNvCxnSpPr>
            <a:cxnSpLocks/>
            <a:endCxn id="103" idx="1"/>
          </p:cNvCxnSpPr>
          <p:nvPr/>
        </p:nvCxnSpPr>
        <p:spPr>
          <a:xfrm>
            <a:off x="6028109" y="2190146"/>
            <a:ext cx="581869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EC6D73D6-4A70-C9CB-C319-933329C79B1E}"/>
              </a:ext>
            </a:extLst>
          </p:cNvPr>
          <p:cNvSpPr/>
          <p:nvPr/>
        </p:nvSpPr>
        <p:spPr>
          <a:xfrm>
            <a:off x="3242009" y="3901616"/>
            <a:ext cx="1248064" cy="697885"/>
          </a:xfrm>
          <a:prstGeom prst="roundRect">
            <a:avLst>
              <a:gd name="adj" fmla="val 4634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6CF590A4-8DC6-4088-F831-098891013681}"/>
              </a:ext>
            </a:extLst>
          </p:cNvPr>
          <p:cNvSpPr/>
          <p:nvPr/>
        </p:nvSpPr>
        <p:spPr>
          <a:xfrm>
            <a:off x="3375286" y="3775567"/>
            <a:ext cx="981511" cy="292388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000000"/>
                </a:solidFill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LLM</a:t>
            </a:r>
            <a:r>
              <a:rPr lang="en-US" altLang="ko-KR" sz="1200" b="1" dirty="0">
                <a:solidFill>
                  <a:srgbClr val="FF0000"/>
                </a:solidFill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(API)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A8CB0200-BD2F-87CF-BD02-91DDB3D44BC1}"/>
              </a:ext>
            </a:extLst>
          </p:cNvPr>
          <p:cNvCxnSpPr>
            <a:cxnSpLocks/>
            <a:stCxn id="98" idx="2"/>
            <a:endCxn id="114" idx="0"/>
          </p:cNvCxnSpPr>
          <p:nvPr/>
        </p:nvCxnSpPr>
        <p:spPr>
          <a:xfrm>
            <a:off x="3866040" y="2897625"/>
            <a:ext cx="2" cy="877942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8" name="그림 117">
            <a:extLst>
              <a:ext uri="{FF2B5EF4-FFF2-40B4-BE49-F238E27FC236}">
                <a16:creationId xmlns:a16="http://schemas.microsoft.com/office/drawing/2014/main" id="{4BA6076A-8AC2-F438-F270-8842E4C2F946}"/>
              </a:ext>
            </a:extLst>
          </p:cNvPr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3416041" y="4193827"/>
            <a:ext cx="9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03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B55D5-E00B-2738-2257-E8BF5229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CEA3C0-6ACB-0F2A-B0E4-DA8729819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8724"/>
            <a:ext cx="8520600" cy="37602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상담사 구축 하기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84B06AF-454A-DE94-23EF-935F53B9F0EF}"/>
              </a:ext>
            </a:extLst>
          </p:cNvPr>
          <p:cNvGrpSpPr/>
          <p:nvPr/>
        </p:nvGrpSpPr>
        <p:grpSpPr>
          <a:xfrm>
            <a:off x="437805" y="795822"/>
            <a:ext cx="203748" cy="123442"/>
            <a:chOff x="5916010" y="1808820"/>
            <a:chExt cx="271188" cy="16429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009AECCD-60F3-0B40-A31C-41453150063F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B20C1C9F-C59E-4FD6-8FF5-5C607B8B22AF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01FD49E-42AE-BB90-8406-4D8475C39B4E}"/>
              </a:ext>
            </a:extLst>
          </p:cNvPr>
          <p:cNvSpPr txBox="1"/>
          <p:nvPr/>
        </p:nvSpPr>
        <p:spPr>
          <a:xfrm>
            <a:off x="641553" y="711349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상품상세정보 입력</a:t>
            </a:r>
            <a:endParaRPr lang="ko-KR" altLang="en-US" dirty="0"/>
          </a:p>
        </p:txBody>
      </p:sp>
      <p:pic>
        <p:nvPicPr>
          <p:cNvPr id="13" name="그림 1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D6906A-6459-02D2-0A12-9A544E7B6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003737"/>
            <a:ext cx="6519906" cy="3667447"/>
          </a:xfrm>
          <a:prstGeom prst="rect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EACA3BE-61E7-EC66-DA40-70514A78D8EA}"/>
              </a:ext>
            </a:extLst>
          </p:cNvPr>
          <p:cNvSpPr/>
          <p:nvPr/>
        </p:nvSpPr>
        <p:spPr>
          <a:xfrm>
            <a:off x="4961257" y="2001133"/>
            <a:ext cx="3901312" cy="1903977"/>
          </a:xfrm>
          <a:prstGeom prst="roundRect">
            <a:avLst>
              <a:gd name="adj" fmla="val 2245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AD4708-0A12-0CCA-45A8-2AF7096CB9CD}"/>
              </a:ext>
            </a:extLst>
          </p:cNvPr>
          <p:cNvSpPr txBox="1"/>
          <p:nvPr/>
        </p:nvSpPr>
        <p:spPr>
          <a:xfrm>
            <a:off x="4969279" y="1998651"/>
            <a:ext cx="19445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데이터 저장 과정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9B4D576-9CDA-66D7-62F8-5CE71A2F6DF6}"/>
              </a:ext>
            </a:extLst>
          </p:cNvPr>
          <p:cNvSpPr/>
          <p:nvPr/>
        </p:nvSpPr>
        <p:spPr>
          <a:xfrm>
            <a:off x="5132426" y="2291039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데이터 저장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3BA6A40-59CE-E7C7-23FE-9CEE67A8745A}"/>
              </a:ext>
            </a:extLst>
          </p:cNvPr>
          <p:cNvSpPr/>
          <p:nvPr/>
        </p:nvSpPr>
        <p:spPr>
          <a:xfrm>
            <a:off x="5132426" y="2839376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임베딩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5AB44CE-1F4F-86BC-AE33-4BE2E827323F}"/>
              </a:ext>
            </a:extLst>
          </p:cNvPr>
          <p:cNvSpPr/>
          <p:nvPr/>
        </p:nvSpPr>
        <p:spPr>
          <a:xfrm>
            <a:off x="5132426" y="3395426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벡터 값 저장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758ACB76-5729-3D06-625F-860676A481A1}"/>
              </a:ext>
            </a:extLst>
          </p:cNvPr>
          <p:cNvSpPr/>
          <p:nvPr/>
        </p:nvSpPr>
        <p:spPr>
          <a:xfrm>
            <a:off x="5661072" y="2696518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7901714E-19E5-B212-454A-156A825CF5BF}"/>
              </a:ext>
            </a:extLst>
          </p:cNvPr>
          <p:cNvSpPr/>
          <p:nvPr/>
        </p:nvSpPr>
        <p:spPr>
          <a:xfrm>
            <a:off x="5661072" y="3251464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77769B-B619-7613-AAC1-46B836D749CA}"/>
              </a:ext>
            </a:extLst>
          </p:cNvPr>
          <p:cNvSpPr txBox="1"/>
          <p:nvPr/>
        </p:nvSpPr>
        <p:spPr>
          <a:xfrm>
            <a:off x="6380352" y="2344923"/>
            <a:ext cx="23923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MySQL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저장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54C782-DC90-EE6C-7A1F-7E00029E39F4}"/>
              </a:ext>
            </a:extLst>
          </p:cNvPr>
          <p:cNvSpPr txBox="1"/>
          <p:nvPr/>
        </p:nvSpPr>
        <p:spPr>
          <a:xfrm>
            <a:off x="6380352" y="2896439"/>
            <a:ext cx="23923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상품명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상품설명을 </a:t>
            </a:r>
            <a:r>
              <a:rPr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임베딩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A6A444-DDDC-E96D-688F-92A950C4CAC3}"/>
              </a:ext>
            </a:extLst>
          </p:cNvPr>
          <p:cNvSpPr txBox="1"/>
          <p:nvPr/>
        </p:nvSpPr>
        <p:spPr>
          <a:xfrm>
            <a:off x="6380352" y="3458049"/>
            <a:ext cx="23923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Qdrant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벡터 값 저장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2734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784E9-1276-2BC1-8677-F607ABA9E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30F6F1-D410-9766-0A9B-B40BA8D92B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7" t="4826" r="2761" b="5445"/>
          <a:stretch>
            <a:fillRect/>
          </a:stretch>
        </p:blipFill>
        <p:spPr>
          <a:xfrm>
            <a:off x="437805" y="1088211"/>
            <a:ext cx="5842346" cy="20910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10E2531-3504-C2ED-ABCB-1018FCF75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8724"/>
            <a:ext cx="8520600" cy="37602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상담사 구축 하기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6B19AC5-3EC7-CE85-60AF-1226BBCBCE60}"/>
              </a:ext>
            </a:extLst>
          </p:cNvPr>
          <p:cNvGrpSpPr/>
          <p:nvPr/>
        </p:nvGrpSpPr>
        <p:grpSpPr>
          <a:xfrm>
            <a:off x="437805" y="795822"/>
            <a:ext cx="203748" cy="123442"/>
            <a:chOff x="5916010" y="1808820"/>
            <a:chExt cx="271188" cy="16429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8137DB68-5ADD-121D-4B64-C63DF53732C8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BB2C939E-7344-EB67-C88D-1CDA144FC6FF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A4A0066-AE62-7AC3-2C8E-7DF3885DC426}"/>
              </a:ext>
            </a:extLst>
          </p:cNvPr>
          <p:cNvSpPr txBox="1"/>
          <p:nvPr/>
        </p:nvSpPr>
        <p:spPr>
          <a:xfrm>
            <a:off x="641553" y="711349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로 상품상세정보 조회</a:t>
            </a:r>
            <a:r>
              <a:rPr lang="en-US" altLang="ko-KR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(DB</a:t>
            </a:r>
            <a:r>
              <a:rPr lang="ko-KR" altLang="en-US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정보 활용</a:t>
            </a:r>
            <a:r>
              <a:rPr lang="en-US" altLang="ko-KR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C3A75F9-C363-A4F7-2573-4D089EEB2BAE}"/>
              </a:ext>
            </a:extLst>
          </p:cNvPr>
          <p:cNvSpPr/>
          <p:nvPr/>
        </p:nvSpPr>
        <p:spPr>
          <a:xfrm>
            <a:off x="4937863" y="3266168"/>
            <a:ext cx="3901312" cy="1330144"/>
          </a:xfrm>
          <a:prstGeom prst="roundRect">
            <a:avLst>
              <a:gd name="adj" fmla="val 2245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97759A-C3DA-4674-43E5-F047487D2C72}"/>
              </a:ext>
            </a:extLst>
          </p:cNvPr>
          <p:cNvSpPr txBox="1"/>
          <p:nvPr/>
        </p:nvSpPr>
        <p:spPr>
          <a:xfrm>
            <a:off x="4945885" y="3263685"/>
            <a:ext cx="19445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답변 생성 과정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EB33F72-446D-052C-92B1-04DE6865A3C6}"/>
              </a:ext>
            </a:extLst>
          </p:cNvPr>
          <p:cNvSpPr/>
          <p:nvPr/>
        </p:nvSpPr>
        <p:spPr>
          <a:xfrm>
            <a:off x="5109032" y="3556073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데이터 조회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E1403B-DAE4-6306-239C-ACCBA6356AE8}"/>
              </a:ext>
            </a:extLst>
          </p:cNvPr>
          <p:cNvSpPr txBox="1"/>
          <p:nvPr/>
        </p:nvSpPr>
        <p:spPr>
          <a:xfrm>
            <a:off x="6356958" y="3609957"/>
            <a:ext cx="23923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MySQL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조회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516624D-A234-A30A-F5E5-694D6BEC402A}"/>
              </a:ext>
            </a:extLst>
          </p:cNvPr>
          <p:cNvSpPr/>
          <p:nvPr/>
        </p:nvSpPr>
        <p:spPr>
          <a:xfrm>
            <a:off x="5109032" y="4112613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답변 생성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25" name="화살표: 아래쪽 24">
            <a:extLst>
              <a:ext uri="{FF2B5EF4-FFF2-40B4-BE49-F238E27FC236}">
                <a16:creationId xmlns:a16="http://schemas.microsoft.com/office/drawing/2014/main" id="{B447C692-6598-A7CC-DC62-5B5865407666}"/>
              </a:ext>
            </a:extLst>
          </p:cNvPr>
          <p:cNvSpPr/>
          <p:nvPr/>
        </p:nvSpPr>
        <p:spPr>
          <a:xfrm>
            <a:off x="5637678" y="3968651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085044-E295-B587-4DD5-E10F232D814A}"/>
              </a:ext>
            </a:extLst>
          </p:cNvPr>
          <p:cNvSpPr txBox="1"/>
          <p:nvPr/>
        </p:nvSpPr>
        <p:spPr>
          <a:xfrm>
            <a:off x="6356958" y="4142754"/>
            <a:ext cx="23923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답변 생성</a:t>
            </a:r>
          </a:p>
        </p:txBody>
      </p:sp>
    </p:spTree>
    <p:extLst>
      <p:ext uri="{BB962C8B-B14F-4D97-AF65-F5344CB8AC3E}">
        <p14:creationId xmlns:p14="http://schemas.microsoft.com/office/powerpoint/2010/main" val="1455162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7871B-D318-BB59-521E-632DF89FD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23FE7-985D-5BA6-93BF-6639D664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8724"/>
            <a:ext cx="8520600" cy="37602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상담사 구축 하기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0BB9911-2186-94EE-A793-8D92DE01FA2F}"/>
              </a:ext>
            </a:extLst>
          </p:cNvPr>
          <p:cNvGrpSpPr/>
          <p:nvPr/>
        </p:nvGrpSpPr>
        <p:grpSpPr>
          <a:xfrm>
            <a:off x="437805" y="795822"/>
            <a:ext cx="203748" cy="123442"/>
            <a:chOff x="5916010" y="1808820"/>
            <a:chExt cx="271188" cy="16429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D2A31F7B-CC28-683F-F83C-70981BA2319C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0D1D0A7-C3C0-6BC0-AB83-D29A00663556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E4C3221-62F2-E287-10F6-C54A76B724D6}"/>
              </a:ext>
            </a:extLst>
          </p:cNvPr>
          <p:cNvSpPr txBox="1"/>
          <p:nvPr/>
        </p:nvSpPr>
        <p:spPr>
          <a:xfrm>
            <a:off x="641553" y="71134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로 상품상세정보 조회</a:t>
            </a:r>
            <a:r>
              <a:rPr lang="en-US" altLang="ko-KR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(DB</a:t>
            </a:r>
            <a:r>
              <a:rPr lang="ko-KR" altLang="en-US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정보 활용</a:t>
            </a:r>
            <a:r>
              <a:rPr lang="en-US" altLang="ko-KR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) – </a:t>
            </a:r>
            <a:r>
              <a:rPr lang="ko-KR" altLang="en-US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로그 분석</a:t>
            </a:r>
            <a:endParaRPr lang="ko-KR" altLang="en-US" dirty="0"/>
          </a:p>
        </p:txBody>
      </p:sp>
      <p:pic>
        <p:nvPicPr>
          <p:cNvPr id="14" name="그림 13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1A17F1-FA94-2635-ADB0-C9D748EEE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4" y="1076060"/>
            <a:ext cx="5224614" cy="3612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9850EDB-65B2-1AD0-53CB-D64A5AD9DC9A}"/>
              </a:ext>
            </a:extLst>
          </p:cNvPr>
          <p:cNvSpPr/>
          <p:nvPr/>
        </p:nvSpPr>
        <p:spPr>
          <a:xfrm>
            <a:off x="4937863" y="1980054"/>
            <a:ext cx="3901312" cy="2452097"/>
          </a:xfrm>
          <a:prstGeom prst="roundRect">
            <a:avLst>
              <a:gd name="adj" fmla="val 2245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E6535-11BB-36D0-840B-D4A18387FC1E}"/>
              </a:ext>
            </a:extLst>
          </p:cNvPr>
          <p:cNvSpPr txBox="1"/>
          <p:nvPr/>
        </p:nvSpPr>
        <p:spPr>
          <a:xfrm>
            <a:off x="4945885" y="1984898"/>
            <a:ext cx="19445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답변 생성 과정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259A078-CD1A-6E4F-7FD3-327DF7D4A45D}"/>
              </a:ext>
            </a:extLst>
          </p:cNvPr>
          <p:cNvSpPr/>
          <p:nvPr/>
        </p:nvSpPr>
        <p:spPr>
          <a:xfrm>
            <a:off x="5109032" y="3370445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툴 결과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01AFBE-BE37-D83C-67EA-67EEC655A315}"/>
              </a:ext>
            </a:extLst>
          </p:cNvPr>
          <p:cNvSpPr txBox="1"/>
          <p:nvPr/>
        </p:nvSpPr>
        <p:spPr>
          <a:xfrm>
            <a:off x="6356958" y="3431204"/>
            <a:ext cx="23923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조회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0A19B28-D58A-D8C4-2F64-0B25C7B029B5}"/>
              </a:ext>
            </a:extLst>
          </p:cNvPr>
          <p:cNvSpPr/>
          <p:nvPr/>
        </p:nvSpPr>
        <p:spPr>
          <a:xfrm>
            <a:off x="5109032" y="3926985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답변 생성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3C20AA0D-6F0D-792D-5F03-6B2C79347F4F}"/>
              </a:ext>
            </a:extLst>
          </p:cNvPr>
          <p:cNvSpPr/>
          <p:nvPr/>
        </p:nvSpPr>
        <p:spPr>
          <a:xfrm>
            <a:off x="5637678" y="3783023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669F31-BE71-CED8-05A0-7C1F9CEBD64A}"/>
              </a:ext>
            </a:extLst>
          </p:cNvPr>
          <p:cNvSpPr txBox="1"/>
          <p:nvPr/>
        </p:nvSpPr>
        <p:spPr>
          <a:xfrm>
            <a:off x="6356958" y="3989609"/>
            <a:ext cx="23923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답변 생성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2872C00-8BA9-B595-1A8C-5CEE7EEE646B}"/>
              </a:ext>
            </a:extLst>
          </p:cNvPr>
          <p:cNvSpPr/>
          <p:nvPr/>
        </p:nvSpPr>
        <p:spPr>
          <a:xfrm>
            <a:off x="5109032" y="2246783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질문 입력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CCFA9A-2E79-6B61-411F-BC097F7CA0FE}"/>
              </a:ext>
            </a:extLst>
          </p:cNvPr>
          <p:cNvSpPr txBox="1"/>
          <p:nvPr/>
        </p:nvSpPr>
        <p:spPr>
          <a:xfrm>
            <a:off x="6356958" y="2211292"/>
            <a:ext cx="2392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질문을 분석해서 필요한 정보 판단</a:t>
            </a: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A25E8C08-2E6E-AB78-6E20-A599C0C37A94}"/>
              </a:ext>
            </a:extLst>
          </p:cNvPr>
          <p:cNvSpPr/>
          <p:nvPr/>
        </p:nvSpPr>
        <p:spPr>
          <a:xfrm>
            <a:off x="5637678" y="2659361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462F524-3013-1E86-4AF4-6C9F97434ADC}"/>
              </a:ext>
            </a:extLst>
          </p:cNvPr>
          <p:cNvSpPr/>
          <p:nvPr/>
        </p:nvSpPr>
        <p:spPr>
          <a:xfrm>
            <a:off x="5109032" y="2809855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툴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(Tool)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호출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0988B9-2B4F-46CF-BD1F-0169E80BFF74}"/>
              </a:ext>
            </a:extLst>
          </p:cNvPr>
          <p:cNvSpPr txBox="1"/>
          <p:nvPr/>
        </p:nvSpPr>
        <p:spPr>
          <a:xfrm>
            <a:off x="6356958" y="2774364"/>
            <a:ext cx="25520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상품 정보 조회하는 툴 호출</a:t>
            </a:r>
          </a:p>
        </p:txBody>
      </p: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9F13ED34-3736-2446-B433-56942E159E46}"/>
              </a:ext>
            </a:extLst>
          </p:cNvPr>
          <p:cNvSpPr/>
          <p:nvPr/>
        </p:nvSpPr>
        <p:spPr>
          <a:xfrm>
            <a:off x="5637678" y="3215558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928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01C09-1FEE-C6BB-4B1F-7DB9367F5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8DDFA2-6C6F-70EC-1544-00B5D49635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9" t="2887" r="2587" b="2832"/>
          <a:stretch>
            <a:fillRect/>
          </a:stretch>
        </p:blipFill>
        <p:spPr>
          <a:xfrm>
            <a:off x="311700" y="1003737"/>
            <a:ext cx="5136600" cy="3733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DC1DE16-DFA8-6A4C-2D88-96E4B44EE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8724"/>
            <a:ext cx="8520600" cy="37602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상담사 구축 하기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0902A50-E0C3-EAD3-4C68-5BC24092EBF3}"/>
              </a:ext>
            </a:extLst>
          </p:cNvPr>
          <p:cNvGrpSpPr/>
          <p:nvPr/>
        </p:nvGrpSpPr>
        <p:grpSpPr>
          <a:xfrm>
            <a:off x="437805" y="795822"/>
            <a:ext cx="203748" cy="123442"/>
            <a:chOff x="5916010" y="1808820"/>
            <a:chExt cx="271188" cy="16429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E429768-AC5C-90B8-B1F8-30B1F75ECB8A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66700D3-9A0E-07B1-0A6F-652DEC344E77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6EC428B-9182-573D-864B-C319B95E0A51}"/>
              </a:ext>
            </a:extLst>
          </p:cNvPr>
          <p:cNvSpPr txBox="1"/>
          <p:nvPr/>
        </p:nvSpPr>
        <p:spPr>
          <a:xfrm>
            <a:off x="641553" y="71134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로 상품상세정보 조회</a:t>
            </a:r>
            <a:r>
              <a:rPr lang="en-US" altLang="ko-KR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 err="1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임베딩</a:t>
            </a:r>
            <a:r>
              <a:rPr lang="ko-KR" altLang="en-US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정보 활용</a:t>
            </a:r>
            <a:r>
              <a:rPr lang="en-US" altLang="ko-KR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8805CC1-31AC-952D-B143-2FBCAE55CBD8}"/>
              </a:ext>
            </a:extLst>
          </p:cNvPr>
          <p:cNvSpPr/>
          <p:nvPr/>
        </p:nvSpPr>
        <p:spPr>
          <a:xfrm>
            <a:off x="4930988" y="1918628"/>
            <a:ext cx="3901312" cy="2433366"/>
          </a:xfrm>
          <a:prstGeom prst="roundRect">
            <a:avLst>
              <a:gd name="adj" fmla="val 2245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BEC5E4-B459-4620-7A2E-388798010E96}"/>
              </a:ext>
            </a:extLst>
          </p:cNvPr>
          <p:cNvSpPr txBox="1"/>
          <p:nvPr/>
        </p:nvSpPr>
        <p:spPr>
          <a:xfrm>
            <a:off x="4939010" y="1916146"/>
            <a:ext cx="19445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답변 생성 과정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CBDC811-AF24-C79C-A250-AE267F812B4A}"/>
              </a:ext>
            </a:extLst>
          </p:cNvPr>
          <p:cNvSpPr/>
          <p:nvPr/>
        </p:nvSpPr>
        <p:spPr>
          <a:xfrm>
            <a:off x="5102157" y="2208534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데이터 조회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3CAEAF5-3055-357B-C7A3-4C9467983E51}"/>
              </a:ext>
            </a:extLst>
          </p:cNvPr>
          <p:cNvSpPr/>
          <p:nvPr/>
        </p:nvSpPr>
        <p:spPr>
          <a:xfrm>
            <a:off x="5102157" y="2756871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임베딩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9305FA0-AA41-F9B6-32B0-5B82CE28F4AA}"/>
              </a:ext>
            </a:extLst>
          </p:cNvPr>
          <p:cNvSpPr/>
          <p:nvPr/>
        </p:nvSpPr>
        <p:spPr>
          <a:xfrm>
            <a:off x="5102157" y="3308148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유사도 검증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B55AB89A-BD29-D552-419B-B410A03B883E}"/>
              </a:ext>
            </a:extLst>
          </p:cNvPr>
          <p:cNvSpPr/>
          <p:nvPr/>
        </p:nvSpPr>
        <p:spPr>
          <a:xfrm>
            <a:off x="5630803" y="2614013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3FF64FC4-FBF6-535E-2963-EE32CF9BB57F}"/>
              </a:ext>
            </a:extLst>
          </p:cNvPr>
          <p:cNvSpPr/>
          <p:nvPr/>
        </p:nvSpPr>
        <p:spPr>
          <a:xfrm>
            <a:off x="5630803" y="3168959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C012FF-C439-A2EC-701F-E2A900F5F962}"/>
              </a:ext>
            </a:extLst>
          </p:cNvPr>
          <p:cNvSpPr txBox="1"/>
          <p:nvPr/>
        </p:nvSpPr>
        <p:spPr>
          <a:xfrm>
            <a:off x="6350083" y="2262418"/>
            <a:ext cx="23923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MySQL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조회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CBD186-8536-F960-CD24-897C6A7C6EAB}"/>
              </a:ext>
            </a:extLst>
          </p:cNvPr>
          <p:cNvSpPr txBox="1"/>
          <p:nvPr/>
        </p:nvSpPr>
        <p:spPr>
          <a:xfrm>
            <a:off x="6350083" y="2813934"/>
            <a:ext cx="23923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질문 </a:t>
            </a:r>
            <a:r>
              <a:rPr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임베딩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272EEA-A145-A269-1838-5F4C67139064}"/>
              </a:ext>
            </a:extLst>
          </p:cNvPr>
          <p:cNvSpPr txBox="1"/>
          <p:nvPr/>
        </p:nvSpPr>
        <p:spPr>
          <a:xfrm>
            <a:off x="6350083" y="3220481"/>
            <a:ext cx="239238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Qdrant</a:t>
            </a: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저장된 데이터를 기반으로 사용자 질문과 유사도가 높은 상품의 정보를 추출</a:t>
            </a:r>
            <a:endParaRPr lang="ko-KR" altLang="en-US" sz="105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B66C6EE-C621-ABD1-2D43-5EA0F6EDDDBE}"/>
              </a:ext>
            </a:extLst>
          </p:cNvPr>
          <p:cNvSpPr/>
          <p:nvPr/>
        </p:nvSpPr>
        <p:spPr>
          <a:xfrm>
            <a:off x="5102157" y="3858227"/>
            <a:ext cx="1219525" cy="4022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답변 생성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25" name="화살표: 아래쪽 24">
            <a:extLst>
              <a:ext uri="{FF2B5EF4-FFF2-40B4-BE49-F238E27FC236}">
                <a16:creationId xmlns:a16="http://schemas.microsoft.com/office/drawing/2014/main" id="{B528832B-4B88-2BCE-73D1-AA05AC8C4914}"/>
              </a:ext>
            </a:extLst>
          </p:cNvPr>
          <p:cNvSpPr/>
          <p:nvPr/>
        </p:nvSpPr>
        <p:spPr>
          <a:xfrm>
            <a:off x="5630803" y="3714265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3643E1-F6C1-3503-411E-526E73887A83}"/>
              </a:ext>
            </a:extLst>
          </p:cNvPr>
          <p:cNvSpPr txBox="1"/>
          <p:nvPr/>
        </p:nvSpPr>
        <p:spPr>
          <a:xfrm>
            <a:off x="6350083" y="3888368"/>
            <a:ext cx="23923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답변 생성</a:t>
            </a:r>
          </a:p>
        </p:txBody>
      </p:sp>
    </p:spTree>
    <p:extLst>
      <p:ext uri="{BB962C8B-B14F-4D97-AF65-F5344CB8AC3E}">
        <p14:creationId xmlns:p14="http://schemas.microsoft.com/office/powerpoint/2010/main" val="2376343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41E1C-E461-60A1-4BAA-37AE2DDDA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7E15A-4196-8F22-6041-E9CAFE0BF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8724"/>
            <a:ext cx="8520600" cy="37602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상담사 구축 하기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5657143-2513-C4E0-FC17-2D3A9456230E}"/>
              </a:ext>
            </a:extLst>
          </p:cNvPr>
          <p:cNvGrpSpPr/>
          <p:nvPr/>
        </p:nvGrpSpPr>
        <p:grpSpPr>
          <a:xfrm>
            <a:off x="437805" y="795822"/>
            <a:ext cx="203748" cy="123442"/>
            <a:chOff x="5916010" y="1808820"/>
            <a:chExt cx="271188" cy="16429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0EC22390-3CC6-7279-5177-CBBB4DC986AD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31592A4F-2147-D9C0-DF0A-79473E991341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25ED698-CEE3-A691-EE76-486C19331139}"/>
              </a:ext>
            </a:extLst>
          </p:cNvPr>
          <p:cNvSpPr txBox="1"/>
          <p:nvPr/>
        </p:nvSpPr>
        <p:spPr>
          <a:xfrm>
            <a:off x="641553" y="71134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로 상품상세정보 조회</a:t>
            </a:r>
            <a:r>
              <a:rPr lang="en-US" altLang="ko-KR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 err="1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임베딩</a:t>
            </a:r>
            <a:r>
              <a:rPr lang="ko-KR" altLang="en-US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정보 활용</a:t>
            </a:r>
            <a:r>
              <a:rPr lang="en-US" altLang="ko-KR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) – </a:t>
            </a:r>
            <a:r>
              <a:rPr lang="ko-KR" altLang="en-US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로그 분석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5EF779F-405A-49CA-1809-B1B42595574F}"/>
              </a:ext>
            </a:extLst>
          </p:cNvPr>
          <p:cNvSpPr/>
          <p:nvPr/>
        </p:nvSpPr>
        <p:spPr>
          <a:xfrm>
            <a:off x="4802352" y="1006218"/>
            <a:ext cx="3901312" cy="3595097"/>
          </a:xfrm>
          <a:prstGeom prst="roundRect">
            <a:avLst>
              <a:gd name="adj" fmla="val 2245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9B4F89-3DC2-2AB5-E7FB-4CA589BBF2E7}"/>
              </a:ext>
            </a:extLst>
          </p:cNvPr>
          <p:cNvSpPr txBox="1"/>
          <p:nvPr/>
        </p:nvSpPr>
        <p:spPr>
          <a:xfrm>
            <a:off x="4810374" y="1003737"/>
            <a:ext cx="19445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답변 생성 과정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020C0D0-C9F9-1566-F6E6-E17867F5B55E}"/>
              </a:ext>
            </a:extLst>
          </p:cNvPr>
          <p:cNvSpPr/>
          <p:nvPr/>
        </p:nvSpPr>
        <p:spPr>
          <a:xfrm>
            <a:off x="4973521" y="2397735"/>
            <a:ext cx="1219525" cy="403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툴 결과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B18E260-069E-2FBB-D266-83130584F716}"/>
              </a:ext>
            </a:extLst>
          </p:cNvPr>
          <p:cNvSpPr/>
          <p:nvPr/>
        </p:nvSpPr>
        <p:spPr>
          <a:xfrm>
            <a:off x="4973521" y="3514488"/>
            <a:ext cx="1219525" cy="403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툴 결과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F9A95EFE-0BEF-0976-CA14-145983579B81}"/>
              </a:ext>
            </a:extLst>
          </p:cNvPr>
          <p:cNvSpPr/>
          <p:nvPr/>
        </p:nvSpPr>
        <p:spPr>
          <a:xfrm>
            <a:off x="5502167" y="2800589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8F2104-5AC9-CC78-1776-11D37AC048A0}"/>
              </a:ext>
            </a:extLst>
          </p:cNvPr>
          <p:cNvSpPr txBox="1"/>
          <p:nvPr/>
        </p:nvSpPr>
        <p:spPr>
          <a:xfrm>
            <a:off x="6221447" y="2470669"/>
            <a:ext cx="23923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MySQL </a:t>
            </a: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조회</a:t>
            </a:r>
            <a:endParaRPr lang="ko-KR" altLang="en-US" sz="105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F0711D-656F-5A07-CC8A-9A63F5DC5D6D}"/>
              </a:ext>
            </a:extLst>
          </p:cNvPr>
          <p:cNvSpPr txBox="1"/>
          <p:nvPr/>
        </p:nvSpPr>
        <p:spPr>
          <a:xfrm>
            <a:off x="6221447" y="3426821"/>
            <a:ext cx="239238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Qdrant</a:t>
            </a: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저장된 데이터를 기반으로 사용자 질문과 유사도가 높은 상품의 정보를 추출</a:t>
            </a:r>
            <a:endParaRPr lang="ko-KR" altLang="en-US" sz="105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37020ED-CB33-B038-18AA-55BB2D919A94}"/>
              </a:ext>
            </a:extLst>
          </p:cNvPr>
          <p:cNvSpPr/>
          <p:nvPr/>
        </p:nvSpPr>
        <p:spPr>
          <a:xfrm>
            <a:off x="4973521" y="4077267"/>
            <a:ext cx="1219525" cy="403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답변 생성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25" name="화살표: 아래쪽 24">
            <a:extLst>
              <a:ext uri="{FF2B5EF4-FFF2-40B4-BE49-F238E27FC236}">
                <a16:creationId xmlns:a16="http://schemas.microsoft.com/office/drawing/2014/main" id="{7CA25C19-EAB2-0748-3C6D-A0D0D7419655}"/>
              </a:ext>
            </a:extLst>
          </p:cNvPr>
          <p:cNvSpPr/>
          <p:nvPr/>
        </p:nvSpPr>
        <p:spPr>
          <a:xfrm>
            <a:off x="5502167" y="3924330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8648BF-77F4-8AD7-7AC5-EA67204F309D}"/>
              </a:ext>
            </a:extLst>
          </p:cNvPr>
          <p:cNvSpPr txBox="1"/>
          <p:nvPr/>
        </p:nvSpPr>
        <p:spPr>
          <a:xfrm>
            <a:off x="6221447" y="4151858"/>
            <a:ext cx="23923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답변 생성</a:t>
            </a:r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1D2B0D-7CFC-BD8D-8A9D-D2498930D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36" y="1003738"/>
            <a:ext cx="3906026" cy="36702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B8059D83-8CB3-B148-2569-7ABDCFB17FE2}"/>
              </a:ext>
            </a:extLst>
          </p:cNvPr>
          <p:cNvSpPr/>
          <p:nvPr/>
        </p:nvSpPr>
        <p:spPr>
          <a:xfrm>
            <a:off x="4973521" y="1292229"/>
            <a:ext cx="1219525" cy="403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질문 입력</a:t>
            </a:r>
            <a:endParaRPr lang="ko-KR" altLang="en-US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37" name="화살표: 아래쪽 36">
            <a:extLst>
              <a:ext uri="{FF2B5EF4-FFF2-40B4-BE49-F238E27FC236}">
                <a16:creationId xmlns:a16="http://schemas.microsoft.com/office/drawing/2014/main" id="{CCBB0F97-C409-E287-6C0A-6B70D3841C25}"/>
              </a:ext>
            </a:extLst>
          </p:cNvPr>
          <p:cNvSpPr/>
          <p:nvPr/>
        </p:nvSpPr>
        <p:spPr>
          <a:xfrm>
            <a:off x="5502167" y="1699782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00E04B-9D1F-3E3D-60B5-901A3835A999}"/>
              </a:ext>
            </a:extLst>
          </p:cNvPr>
          <p:cNvSpPr txBox="1"/>
          <p:nvPr/>
        </p:nvSpPr>
        <p:spPr>
          <a:xfrm>
            <a:off x="6221447" y="1287920"/>
            <a:ext cx="239238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질문을 분석해서 필요한 정보 판단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C1672DC-DCA0-29A1-3118-497303B4E6E8}"/>
              </a:ext>
            </a:extLst>
          </p:cNvPr>
          <p:cNvSpPr/>
          <p:nvPr/>
        </p:nvSpPr>
        <p:spPr>
          <a:xfrm>
            <a:off x="4973521" y="1849183"/>
            <a:ext cx="1219525" cy="403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툴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(Tool)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호출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E58308-F5DA-65B7-571D-C37E9FAFACEE}"/>
              </a:ext>
            </a:extLst>
          </p:cNvPr>
          <p:cNvSpPr txBox="1"/>
          <p:nvPr/>
        </p:nvSpPr>
        <p:spPr>
          <a:xfrm>
            <a:off x="6221447" y="1927992"/>
            <a:ext cx="23923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상품 정보 조회하는 툴 호출</a:t>
            </a:r>
          </a:p>
        </p:txBody>
      </p:sp>
      <p:sp>
        <p:nvSpPr>
          <p:cNvPr id="41" name="화살표: 아래쪽 40">
            <a:extLst>
              <a:ext uri="{FF2B5EF4-FFF2-40B4-BE49-F238E27FC236}">
                <a16:creationId xmlns:a16="http://schemas.microsoft.com/office/drawing/2014/main" id="{E13329E0-EBCE-B08B-C735-EDC982A6C126}"/>
              </a:ext>
            </a:extLst>
          </p:cNvPr>
          <p:cNvSpPr/>
          <p:nvPr/>
        </p:nvSpPr>
        <p:spPr>
          <a:xfrm>
            <a:off x="5502167" y="2252261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A58FC856-F141-D912-39E2-22D17535DAE5}"/>
              </a:ext>
            </a:extLst>
          </p:cNvPr>
          <p:cNvSpPr/>
          <p:nvPr/>
        </p:nvSpPr>
        <p:spPr>
          <a:xfrm>
            <a:off x="4973521" y="2952422"/>
            <a:ext cx="1219525" cy="403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툴</a:t>
            </a:r>
            <a:r>
              <a: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(Tool)</a:t>
            </a:r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호출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9FE58C-0C82-D143-4A1C-B4972D9D5763}"/>
              </a:ext>
            </a:extLst>
          </p:cNvPr>
          <p:cNvSpPr txBox="1"/>
          <p:nvPr/>
        </p:nvSpPr>
        <p:spPr>
          <a:xfrm>
            <a:off x="6221447" y="2948681"/>
            <a:ext cx="239238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상품 상세 정보 조회하는 툴 호출</a:t>
            </a:r>
          </a:p>
        </p:txBody>
      </p:sp>
      <p:sp>
        <p:nvSpPr>
          <p:cNvPr id="44" name="화살표: 아래쪽 43">
            <a:extLst>
              <a:ext uri="{FF2B5EF4-FFF2-40B4-BE49-F238E27FC236}">
                <a16:creationId xmlns:a16="http://schemas.microsoft.com/office/drawing/2014/main" id="{FBA944C1-105D-7595-CDAC-D99002136C7D}"/>
              </a:ext>
            </a:extLst>
          </p:cNvPr>
          <p:cNvSpPr/>
          <p:nvPr/>
        </p:nvSpPr>
        <p:spPr>
          <a:xfrm>
            <a:off x="5502167" y="3368200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750588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D55F2-1972-D87F-290C-282042EAA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736DD-1D90-6BE8-57E4-474CBDE22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8724"/>
            <a:ext cx="8520600" cy="37602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상담사 구축 하기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D7E06FC-23F9-1701-681A-E3B4963A6537}"/>
              </a:ext>
            </a:extLst>
          </p:cNvPr>
          <p:cNvGrpSpPr/>
          <p:nvPr/>
        </p:nvGrpSpPr>
        <p:grpSpPr>
          <a:xfrm>
            <a:off x="437805" y="795822"/>
            <a:ext cx="203748" cy="123442"/>
            <a:chOff x="5916010" y="1808820"/>
            <a:chExt cx="271188" cy="16429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2ADE18E7-CA4D-595A-8608-7F4257F9476E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86162B4B-1634-55C8-1ABC-5F2FE94D3AE7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F70295B-AA98-08B1-0195-F116E8106240}"/>
              </a:ext>
            </a:extLst>
          </p:cNvPr>
          <p:cNvSpPr txBox="1"/>
          <p:nvPr/>
        </p:nvSpPr>
        <p:spPr>
          <a:xfrm>
            <a:off x="641553" y="711349"/>
            <a:ext cx="379447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상품 추천</a:t>
            </a:r>
            <a:endParaRPr lang="ko-KR" altLang="en-US" dirty="0"/>
          </a:p>
        </p:txBody>
      </p:sp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738A4C-CD40-C705-6B29-7983D703E0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2" t="2175" r="2488" b="1777"/>
          <a:stretch>
            <a:fillRect/>
          </a:stretch>
        </p:blipFill>
        <p:spPr>
          <a:xfrm>
            <a:off x="311700" y="1003737"/>
            <a:ext cx="4124323" cy="35950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그림 1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EAEADB-ACDB-0EA6-3B96-BC40E9F804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48" t="14281" r="1181" b="13865"/>
          <a:stretch>
            <a:fillRect/>
          </a:stretch>
        </p:blipFill>
        <p:spPr>
          <a:xfrm>
            <a:off x="4806950" y="1003737"/>
            <a:ext cx="4014000" cy="18850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C2E13F32-525B-2925-A4D5-8C204DA3223B}"/>
              </a:ext>
            </a:extLst>
          </p:cNvPr>
          <p:cNvGrpSpPr/>
          <p:nvPr/>
        </p:nvGrpSpPr>
        <p:grpSpPr>
          <a:xfrm>
            <a:off x="4806950" y="795822"/>
            <a:ext cx="203748" cy="123442"/>
            <a:chOff x="5916010" y="1808820"/>
            <a:chExt cx="271188" cy="164299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D23A8C9-FEB8-4A0D-CFCD-8873445028CD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54CC915-D034-B186-6D35-799BECBA1B87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627643F-A714-DED9-E969-0E8122F8ED35}"/>
              </a:ext>
            </a:extLst>
          </p:cNvPr>
          <p:cNvSpPr txBox="1"/>
          <p:nvPr/>
        </p:nvSpPr>
        <p:spPr>
          <a:xfrm>
            <a:off x="5010698" y="711349"/>
            <a:ext cx="379447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사용 방법 문의</a:t>
            </a:r>
            <a:endParaRPr lang="ko-KR" altLang="en-US" dirty="0"/>
          </a:p>
        </p:txBody>
      </p:sp>
      <p:pic>
        <p:nvPicPr>
          <p:cNvPr id="26" name="그림 2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F493BB-52FE-2B7B-8CAB-CBD0DA4838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504" t="18010" r="1881" b="15868"/>
          <a:stretch>
            <a:fillRect/>
          </a:stretch>
        </p:blipFill>
        <p:spPr>
          <a:xfrm>
            <a:off x="4806950" y="3000352"/>
            <a:ext cx="4014000" cy="16047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9745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3EE0-B513-2981-83D9-AB06D14B9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89BE451-9C24-CD3C-2E35-94DA3DF986D0}"/>
              </a:ext>
            </a:extLst>
          </p:cNvPr>
          <p:cNvSpPr/>
          <p:nvPr/>
        </p:nvSpPr>
        <p:spPr>
          <a:xfrm>
            <a:off x="435984" y="2876623"/>
            <a:ext cx="4390016" cy="1708077"/>
          </a:xfrm>
          <a:prstGeom prst="roundRect">
            <a:avLst>
              <a:gd name="adj" fmla="val 4634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813D703-B104-47BA-B1D3-8B00B4A303E3}"/>
              </a:ext>
            </a:extLst>
          </p:cNvPr>
          <p:cNvSpPr/>
          <p:nvPr/>
        </p:nvSpPr>
        <p:spPr>
          <a:xfrm>
            <a:off x="1329903" y="3401479"/>
            <a:ext cx="2316378" cy="1113369"/>
          </a:xfrm>
          <a:prstGeom prst="roundRect">
            <a:avLst>
              <a:gd name="adj" fmla="val 4634"/>
            </a:avLst>
          </a:prstGeom>
          <a:solidFill>
            <a:schemeClr val="bg1">
              <a:lumMod val="85000"/>
            </a:schemeClr>
          </a:solidFill>
          <a:ln w="3175"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 dirty="0">
              <a:solidFill>
                <a:srgbClr val="000000"/>
              </a:solidFill>
              <a:latin typeface="맑은 고딕" panose="020B0503020000020004" pitchFamily="50" charset="-127"/>
              <a:cs typeface="Arial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829283C-7E0A-9D3F-EAEA-8A27136865E7}"/>
              </a:ext>
            </a:extLst>
          </p:cNvPr>
          <p:cNvSpPr/>
          <p:nvPr/>
        </p:nvSpPr>
        <p:spPr>
          <a:xfrm>
            <a:off x="3695683" y="3158356"/>
            <a:ext cx="992104" cy="1350135"/>
          </a:xfrm>
          <a:prstGeom prst="roundRect">
            <a:avLst>
              <a:gd name="adj" fmla="val 12853"/>
            </a:avLst>
          </a:prstGeom>
          <a:solidFill>
            <a:schemeClr val="bg1"/>
          </a:solidFill>
          <a:ln w="3175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 dirty="0">
              <a:solidFill>
                <a:srgbClr val="000000"/>
              </a:solidFill>
              <a:latin typeface="맑은 고딕" panose="020B0503020000020004" pitchFamily="50" charset="-127"/>
              <a:cs typeface="Arial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B274DC6-F2EC-47A9-43A8-2CCF69856887}"/>
              </a:ext>
            </a:extLst>
          </p:cNvPr>
          <p:cNvSpPr/>
          <p:nvPr/>
        </p:nvSpPr>
        <p:spPr>
          <a:xfrm>
            <a:off x="518584" y="3158356"/>
            <a:ext cx="772559" cy="1350135"/>
          </a:xfrm>
          <a:prstGeom prst="roundRect">
            <a:avLst>
              <a:gd name="adj" fmla="val 12853"/>
            </a:avLst>
          </a:prstGeom>
          <a:solidFill>
            <a:schemeClr val="bg1"/>
          </a:solidFill>
          <a:ln w="3175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b="1" dirty="0">
              <a:solidFill>
                <a:srgbClr val="000000"/>
              </a:solidFill>
              <a:latin typeface="맑은 고딕" panose="020B0503020000020004" pitchFamily="50" charset="-127"/>
              <a:cs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6DB448-2127-0549-1B70-4B65D25F356E}"/>
              </a:ext>
            </a:extLst>
          </p:cNvPr>
          <p:cNvSpPr txBox="1"/>
          <p:nvPr/>
        </p:nvSpPr>
        <p:spPr>
          <a:xfrm>
            <a:off x="378833" y="4106093"/>
            <a:ext cx="1052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300" b="1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1200" dirty="0"/>
              <a:t>서버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88335B42-DCCD-9B89-93E8-66BA2758E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12" y="3487379"/>
            <a:ext cx="593103" cy="593103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C68B125-6348-0BF8-C969-0947EC3C2FAA}"/>
              </a:ext>
            </a:extLst>
          </p:cNvPr>
          <p:cNvSpPr/>
          <p:nvPr/>
        </p:nvSpPr>
        <p:spPr>
          <a:xfrm>
            <a:off x="435984" y="1132918"/>
            <a:ext cx="4390016" cy="1491693"/>
          </a:xfrm>
          <a:prstGeom prst="roundRect">
            <a:avLst>
              <a:gd name="adj" fmla="val 4634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C59B944-D79D-D63A-AEBF-B96DE345349A}"/>
              </a:ext>
            </a:extLst>
          </p:cNvPr>
          <p:cNvSpPr/>
          <p:nvPr/>
        </p:nvSpPr>
        <p:spPr>
          <a:xfrm>
            <a:off x="489588" y="1003737"/>
            <a:ext cx="3093193" cy="292388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▶ 질문 입력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91A095-A4BC-66E9-F3DF-6FC57503A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8724"/>
            <a:ext cx="8520600" cy="37602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상담사 구축 하기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00E86A4-0E5A-5A65-3BA7-41F6EB05D6C3}"/>
              </a:ext>
            </a:extLst>
          </p:cNvPr>
          <p:cNvGrpSpPr/>
          <p:nvPr/>
        </p:nvGrpSpPr>
        <p:grpSpPr>
          <a:xfrm>
            <a:off x="437805" y="795822"/>
            <a:ext cx="203748" cy="123442"/>
            <a:chOff x="5916010" y="1808820"/>
            <a:chExt cx="271188" cy="16429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55125AFC-8AA7-4D02-2719-12244B576036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9925BF91-1161-4A21-380A-EF42BF84093F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4B6C654-8E80-8E57-8DDA-50E36212B810}"/>
              </a:ext>
            </a:extLst>
          </p:cNvPr>
          <p:cNvSpPr txBox="1"/>
          <p:nvPr/>
        </p:nvSpPr>
        <p:spPr>
          <a:xfrm>
            <a:off x="641553" y="711349"/>
            <a:ext cx="379447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답변 프로세스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95E367-B6A3-FC06-C4A9-B8697AF6549F}"/>
              </a:ext>
            </a:extLst>
          </p:cNvPr>
          <p:cNvSpPr txBox="1"/>
          <p:nvPr/>
        </p:nvSpPr>
        <p:spPr>
          <a:xfrm>
            <a:off x="435983" y="2273488"/>
            <a:ext cx="1052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300" b="1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1200" dirty="0"/>
              <a:t>고객</a:t>
            </a:r>
          </a:p>
        </p:txBody>
      </p:sp>
      <p:pic>
        <p:nvPicPr>
          <p:cNvPr id="17" name="그림 1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F05849-8F4D-E5FF-88C9-DF7B48A1BE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62" t="8338" r="2682" b="7469"/>
          <a:stretch>
            <a:fillRect/>
          </a:stretch>
        </p:blipFill>
        <p:spPr>
          <a:xfrm>
            <a:off x="1611395" y="1418956"/>
            <a:ext cx="2960605" cy="10516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D72295E-EAE4-FD5D-3DC1-1F94914FF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02" y="1652180"/>
            <a:ext cx="664622" cy="664622"/>
          </a:xfrm>
          <a:prstGeom prst="rect">
            <a:avLst/>
          </a:prstGeom>
        </p:spPr>
      </p:pic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4199D385-57C4-53D9-4E4F-5B0B4BF17B5C}"/>
              </a:ext>
            </a:extLst>
          </p:cNvPr>
          <p:cNvSpPr/>
          <p:nvPr/>
        </p:nvSpPr>
        <p:spPr>
          <a:xfrm rot="16200000">
            <a:off x="1324118" y="1913062"/>
            <a:ext cx="162232" cy="14285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6CAAAF9-CC4D-DCF7-EF8B-9664E8453C36}"/>
              </a:ext>
            </a:extLst>
          </p:cNvPr>
          <p:cNvSpPr/>
          <p:nvPr/>
        </p:nvSpPr>
        <p:spPr>
          <a:xfrm>
            <a:off x="489588" y="2747442"/>
            <a:ext cx="3093193" cy="292388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▶ 답변 생성</a:t>
            </a: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D0BEED41-A188-0917-0CB6-1AC7037834C5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790616" y="3670832"/>
            <a:ext cx="802238" cy="22619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F32FB2F-FEDE-40AB-5B85-90D0754156B1}"/>
              </a:ext>
            </a:extLst>
          </p:cNvPr>
          <p:cNvSpPr txBox="1"/>
          <p:nvPr/>
        </p:nvSpPr>
        <p:spPr>
          <a:xfrm>
            <a:off x="3665705" y="4106093"/>
            <a:ext cx="1052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300" b="1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en-US" altLang="ko-KR" sz="1200" dirty="0"/>
              <a:t>LLM</a:t>
            </a:r>
            <a:r>
              <a:rPr lang="en-US" altLang="ko-KR" sz="1200" dirty="0">
                <a:solidFill>
                  <a:srgbClr val="FF0000"/>
                </a:solidFill>
              </a:rPr>
              <a:t>(API)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BCBE6D6-5B79-CB7A-B97A-2E65C2E0F92C}"/>
              </a:ext>
            </a:extLst>
          </p:cNvPr>
          <p:cNvCxnSpPr>
            <a:cxnSpLocks/>
          </p:cNvCxnSpPr>
          <p:nvPr/>
        </p:nvCxnSpPr>
        <p:spPr>
          <a:xfrm>
            <a:off x="1357824" y="3276600"/>
            <a:ext cx="22284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CBF3F86-BC44-1C1D-BEFE-418495043C2E}"/>
              </a:ext>
            </a:extLst>
          </p:cNvPr>
          <p:cNvSpPr/>
          <p:nvPr/>
        </p:nvSpPr>
        <p:spPr>
          <a:xfrm>
            <a:off x="1644034" y="3179304"/>
            <a:ext cx="1656000" cy="181993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질문 </a:t>
            </a:r>
            <a:r>
              <a:rPr lang="en-US" altLang="ko-KR" sz="10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+ </a:t>
            </a:r>
            <a:r>
              <a:rPr lang="ko-KR" altLang="en-US" sz="10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프롬프트 전달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B79BCD0-15B4-AA0B-E1BF-631CEB3CEB4B}"/>
              </a:ext>
            </a:extLst>
          </p:cNvPr>
          <p:cNvCxnSpPr>
            <a:cxnSpLocks/>
          </p:cNvCxnSpPr>
          <p:nvPr/>
        </p:nvCxnSpPr>
        <p:spPr>
          <a:xfrm flipH="1">
            <a:off x="1373882" y="3568725"/>
            <a:ext cx="22284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874AEE2-D140-DC46-61C0-724DC0C22BD0}"/>
              </a:ext>
            </a:extLst>
          </p:cNvPr>
          <p:cNvSpPr/>
          <p:nvPr/>
        </p:nvSpPr>
        <p:spPr>
          <a:xfrm>
            <a:off x="1660092" y="3471429"/>
            <a:ext cx="1656000" cy="181993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필요한 툴 호출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225B34CD-FE35-FC25-DEBF-D3DA6308448A}"/>
              </a:ext>
            </a:extLst>
          </p:cNvPr>
          <p:cNvCxnSpPr>
            <a:cxnSpLocks/>
          </p:cNvCxnSpPr>
          <p:nvPr/>
        </p:nvCxnSpPr>
        <p:spPr>
          <a:xfrm>
            <a:off x="1373882" y="3765599"/>
            <a:ext cx="22284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10C0469-1AA4-5006-448C-D25E9001EE19}"/>
              </a:ext>
            </a:extLst>
          </p:cNvPr>
          <p:cNvSpPr/>
          <p:nvPr/>
        </p:nvSpPr>
        <p:spPr>
          <a:xfrm>
            <a:off x="1660092" y="3668303"/>
            <a:ext cx="1656000" cy="181993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툴 사용 결과 전달</a:t>
            </a:r>
            <a:endParaRPr lang="ko-KR" altLang="en-US" sz="1000" b="1" dirty="0">
              <a:solidFill>
                <a:srgbClr val="000000"/>
              </a:solidFill>
              <a:latin typeface="맑은 고딕" panose="020B0503020000020004" pitchFamily="50" charset="-127"/>
              <a:cs typeface="Arial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B774B464-7B4C-449B-D034-5F8A9A12ED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2400678" y="3873090"/>
            <a:ext cx="174828" cy="174828"/>
          </a:xfrm>
          <a:prstGeom prst="rect">
            <a:avLst/>
          </a:prstGeom>
        </p:spPr>
      </p:pic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54778A7E-1394-F3BC-D328-06C9D076B841}"/>
              </a:ext>
            </a:extLst>
          </p:cNvPr>
          <p:cNvSpPr/>
          <p:nvPr/>
        </p:nvSpPr>
        <p:spPr>
          <a:xfrm>
            <a:off x="1660092" y="4053568"/>
            <a:ext cx="1656000" cy="181993"/>
          </a:xfrm>
          <a:prstGeom prst="roundRect">
            <a:avLst>
              <a:gd name="adj" fmla="val 4634"/>
            </a:avLst>
          </a:prstGeom>
          <a:noFill/>
          <a:ln w="3175"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accent1"/>
                </a:solidFill>
                <a:latin typeface="맑은 고딕" panose="020B0503020000020004" pitchFamily="50" charset="-127"/>
                <a:cs typeface="Arial"/>
              </a:rPr>
              <a:t>답변이 나올 때까지 반복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DF668432-8155-E775-BBFB-2F82EDCE4A8C}"/>
              </a:ext>
            </a:extLst>
          </p:cNvPr>
          <p:cNvCxnSpPr>
            <a:cxnSpLocks/>
          </p:cNvCxnSpPr>
          <p:nvPr/>
        </p:nvCxnSpPr>
        <p:spPr>
          <a:xfrm flipH="1">
            <a:off x="1373882" y="4361316"/>
            <a:ext cx="22284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D60669B6-90C9-91B5-E3EF-3C94052FAF18}"/>
              </a:ext>
            </a:extLst>
          </p:cNvPr>
          <p:cNvSpPr/>
          <p:nvPr/>
        </p:nvSpPr>
        <p:spPr>
          <a:xfrm>
            <a:off x="1660092" y="4264020"/>
            <a:ext cx="1656000" cy="181993"/>
          </a:xfrm>
          <a:prstGeom prst="roundRect">
            <a:avLst>
              <a:gd name="adj" fmla="val 4634"/>
            </a:avLst>
          </a:prstGeom>
          <a:solidFill>
            <a:schemeClr val="bg1"/>
          </a:solidFill>
          <a:ln w="3175"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rgbClr val="000000"/>
                </a:solidFill>
                <a:latin typeface="맑은 고딕" panose="020B0503020000020004" pitchFamily="50" charset="-127"/>
                <a:cs typeface="Arial"/>
              </a:rPr>
              <a:t>답변 반환</a:t>
            </a:r>
          </a:p>
        </p:txBody>
      </p:sp>
      <p:pic>
        <p:nvPicPr>
          <p:cNvPr id="60" name="그림 59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E3A351-C0DB-56A1-1FE0-F47B8CEEBF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0041" y="795292"/>
            <a:ext cx="2957825" cy="3783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253C6C9B-D215-CDC1-A471-448F5F505529}"/>
              </a:ext>
            </a:extLst>
          </p:cNvPr>
          <p:cNvSpPr txBox="1"/>
          <p:nvPr/>
        </p:nvSpPr>
        <p:spPr>
          <a:xfrm>
            <a:off x="6442923" y="4546591"/>
            <a:ext cx="1052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300" b="1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1200" dirty="0"/>
              <a:t>프롬프트</a:t>
            </a:r>
          </a:p>
        </p:txBody>
      </p:sp>
    </p:spTree>
    <p:extLst>
      <p:ext uri="{BB962C8B-B14F-4D97-AF65-F5344CB8AC3E}">
        <p14:creationId xmlns:p14="http://schemas.microsoft.com/office/powerpoint/2010/main" val="2039962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0E72C-67E6-930C-D778-F84AE9E7A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CB41D-E375-A97C-301B-61E7E4E03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8724"/>
            <a:ext cx="8520600" cy="37602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상담사 구축 하기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44B3F60-BE53-14BE-13B3-76CA1CE27DF8}"/>
              </a:ext>
            </a:extLst>
          </p:cNvPr>
          <p:cNvGrpSpPr/>
          <p:nvPr/>
        </p:nvGrpSpPr>
        <p:grpSpPr>
          <a:xfrm>
            <a:off x="437805" y="795822"/>
            <a:ext cx="203748" cy="123442"/>
            <a:chOff x="5916010" y="1808820"/>
            <a:chExt cx="271188" cy="16429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F3CC2736-0540-4D56-31A3-CF879F53C299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E85C8BC-516A-EB42-AB58-8FECFFA91EDF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635140D-46AC-76F9-4D43-3B8D00C63611}"/>
              </a:ext>
            </a:extLst>
          </p:cNvPr>
          <p:cNvSpPr txBox="1"/>
          <p:nvPr/>
        </p:nvSpPr>
        <p:spPr>
          <a:xfrm>
            <a:off x="641553" y="711349"/>
            <a:ext cx="379447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프롬프트 구성</a:t>
            </a:r>
            <a:endParaRPr lang="ko-KR" altLang="en-US" dirty="0"/>
          </a:p>
        </p:txBody>
      </p:sp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2EE90F-2817-396F-5990-84CB6FE9C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041" y="795292"/>
            <a:ext cx="2957825" cy="3783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72D4B6-5369-D018-53F3-7E6D71FBDE8F}"/>
              </a:ext>
            </a:extLst>
          </p:cNvPr>
          <p:cNvSpPr txBox="1"/>
          <p:nvPr/>
        </p:nvSpPr>
        <p:spPr>
          <a:xfrm>
            <a:off x="6442923" y="4546591"/>
            <a:ext cx="1052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300" b="1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1200" dirty="0"/>
              <a:t>프롬프트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F7A223C-55DD-043F-6E4E-6EF8F7DD9147}"/>
              </a:ext>
            </a:extLst>
          </p:cNvPr>
          <p:cNvGrpSpPr/>
          <p:nvPr/>
        </p:nvGrpSpPr>
        <p:grpSpPr>
          <a:xfrm>
            <a:off x="395423" y="945821"/>
            <a:ext cx="5027477" cy="276999"/>
            <a:chOff x="395423" y="977571"/>
            <a:chExt cx="5027477" cy="27699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29B0A6-E623-AC60-4420-0583FE932041}"/>
                </a:ext>
              </a:extLst>
            </p:cNvPr>
            <p:cNvSpPr txBox="1"/>
            <p:nvPr/>
          </p:nvSpPr>
          <p:spPr>
            <a:xfrm>
              <a:off x="525025" y="977571"/>
              <a:ext cx="48978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역할</a:t>
              </a: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(Role) </a:t>
              </a:r>
              <a:endPara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343B446-E789-86C4-4B37-6249178FF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</a:blip>
            <a:stretch>
              <a:fillRect/>
            </a:stretch>
          </p:blipFill>
          <p:spPr>
            <a:xfrm>
              <a:off x="395423" y="1012909"/>
              <a:ext cx="180000" cy="180000"/>
            </a:xfrm>
            <a:prstGeom prst="rect">
              <a:avLst/>
            </a:prstGeom>
          </p:spPr>
        </p:pic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FEDED7B-661A-BCB9-430F-7DEE985753FB}"/>
              </a:ext>
            </a:extLst>
          </p:cNvPr>
          <p:cNvGrpSpPr/>
          <p:nvPr/>
        </p:nvGrpSpPr>
        <p:grpSpPr>
          <a:xfrm>
            <a:off x="395423" y="1751113"/>
            <a:ext cx="5027477" cy="276999"/>
            <a:chOff x="395423" y="1775544"/>
            <a:chExt cx="5027477" cy="27699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D27292-6BE5-52A5-44CD-723B60EBED11}"/>
                </a:ext>
              </a:extLst>
            </p:cNvPr>
            <p:cNvSpPr txBox="1"/>
            <p:nvPr/>
          </p:nvSpPr>
          <p:spPr>
            <a:xfrm>
              <a:off x="525025" y="1775544"/>
              <a:ext cx="48978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목표</a:t>
              </a: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(Task) </a:t>
              </a:r>
              <a:endPara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879A2AE-D189-4E39-53B2-6E5540997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</a:blip>
            <a:stretch>
              <a:fillRect/>
            </a:stretch>
          </p:blipFill>
          <p:spPr>
            <a:xfrm>
              <a:off x="395423" y="1810882"/>
              <a:ext cx="180000" cy="180000"/>
            </a:xfrm>
            <a:prstGeom prst="rect">
              <a:avLst/>
            </a:prstGeom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916A236-AB1A-F5E4-B647-BAF342721120}"/>
              </a:ext>
            </a:extLst>
          </p:cNvPr>
          <p:cNvGrpSpPr/>
          <p:nvPr/>
        </p:nvGrpSpPr>
        <p:grpSpPr>
          <a:xfrm>
            <a:off x="395423" y="2556405"/>
            <a:ext cx="5027477" cy="276999"/>
            <a:chOff x="395423" y="2617044"/>
            <a:chExt cx="5027477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8DF0531-020D-DFCB-B033-E4727175B3EB}"/>
                </a:ext>
              </a:extLst>
            </p:cNvPr>
            <p:cNvSpPr txBox="1"/>
            <p:nvPr/>
          </p:nvSpPr>
          <p:spPr>
            <a:xfrm>
              <a:off x="525025" y="2617044"/>
              <a:ext cx="48978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맥락</a:t>
              </a: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(Context) </a:t>
              </a:r>
              <a:endPara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A4E02DD-B99E-2149-2D2E-03F5B5F2F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</a:blip>
            <a:stretch>
              <a:fillRect/>
            </a:stretch>
          </p:blipFill>
          <p:spPr>
            <a:xfrm>
              <a:off x="395423" y="2652382"/>
              <a:ext cx="180000" cy="180000"/>
            </a:xfrm>
            <a:prstGeom prst="rect">
              <a:avLst/>
            </a:prstGeom>
          </p:spPr>
        </p:pic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20872F1-987A-AE9E-E633-A6999AC207E3}"/>
              </a:ext>
            </a:extLst>
          </p:cNvPr>
          <p:cNvGrpSpPr/>
          <p:nvPr/>
        </p:nvGrpSpPr>
        <p:grpSpPr>
          <a:xfrm>
            <a:off x="395423" y="3361697"/>
            <a:ext cx="5027477" cy="276999"/>
            <a:chOff x="395423" y="3423114"/>
            <a:chExt cx="5027477" cy="27699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3F3CC8-96DB-3E13-933D-69E4C3976502}"/>
                </a:ext>
              </a:extLst>
            </p:cNvPr>
            <p:cNvSpPr txBox="1"/>
            <p:nvPr/>
          </p:nvSpPr>
          <p:spPr>
            <a:xfrm>
              <a:off x="525025" y="3423114"/>
              <a:ext cx="48978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제약</a:t>
              </a: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(Constraints)</a:t>
              </a:r>
              <a:endPara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525E882B-25F9-D7F3-3FFC-046D323E0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</a:blip>
            <a:stretch>
              <a:fillRect/>
            </a:stretch>
          </p:blipFill>
          <p:spPr>
            <a:xfrm>
              <a:off x="395423" y="3458452"/>
              <a:ext cx="180000" cy="180000"/>
            </a:xfrm>
            <a:prstGeom prst="rect">
              <a:avLst/>
            </a:prstGeom>
          </p:spPr>
        </p:pic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2C48FE7-6446-0684-E274-26C64DC01257}"/>
              </a:ext>
            </a:extLst>
          </p:cNvPr>
          <p:cNvGrpSpPr/>
          <p:nvPr/>
        </p:nvGrpSpPr>
        <p:grpSpPr>
          <a:xfrm>
            <a:off x="395423" y="4166989"/>
            <a:ext cx="5027477" cy="276999"/>
            <a:chOff x="395423" y="4292999"/>
            <a:chExt cx="5027477" cy="27699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BE1BC06-DDAB-FBA5-B389-7CD33BCB3E96}"/>
                </a:ext>
              </a:extLst>
            </p:cNvPr>
            <p:cNvSpPr txBox="1"/>
            <p:nvPr/>
          </p:nvSpPr>
          <p:spPr>
            <a:xfrm>
              <a:off x="525025" y="4292999"/>
              <a:ext cx="48978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출력 형식</a:t>
              </a: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(Output)</a:t>
              </a:r>
              <a:endPara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6243462D-B6FB-A5DA-1277-BE5EC00ED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</a:blip>
            <a:stretch>
              <a:fillRect/>
            </a:stretch>
          </p:blipFill>
          <p:spPr>
            <a:xfrm>
              <a:off x="395423" y="4328337"/>
              <a:ext cx="180000" cy="180000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BFDC1EB-050D-68DD-2082-F4DC0874F0C3}"/>
              </a:ext>
            </a:extLst>
          </p:cNvPr>
          <p:cNvSpPr txBox="1"/>
          <p:nvPr/>
        </p:nvSpPr>
        <p:spPr>
          <a:xfrm>
            <a:off x="525025" y="1166676"/>
            <a:ext cx="489787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AI</a:t>
            </a: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어떤 관점에서 생각해야 하는지 지정</a:t>
            </a:r>
            <a:endParaRPr lang="en-US" altLang="ko-KR" sz="105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너는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이커머스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쇼핑몰의 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상담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분석 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assistant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너는 시니어 </a:t>
            </a:r>
            <a:r>
              <a:rPr lang="ko-KR" altLang="en-US" sz="1050" b="1" dirty="0" err="1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백엔드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개발자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야</a:t>
            </a:r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5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C12C93-43BF-A77A-5B77-4CB933E34768}"/>
              </a:ext>
            </a:extLst>
          </p:cNvPr>
          <p:cNvSpPr txBox="1"/>
          <p:nvPr/>
        </p:nvSpPr>
        <p:spPr>
          <a:xfrm>
            <a:off x="525025" y="1971968"/>
            <a:ext cx="489787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무엇을 해야 하는지 지정</a:t>
            </a:r>
            <a:endParaRPr lang="en-US" altLang="ko-KR" sz="105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정보를 사람이 이해하기 쉽도록 한국어로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요약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정리해서 답변한다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질문에 대해 초급 개발자가 이해할 수 있도록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설명해줘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50" b="1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7D1F73-5A2B-5377-56B4-0E4DB09604CB}"/>
              </a:ext>
            </a:extLst>
          </p:cNvPr>
          <p:cNvSpPr txBox="1"/>
          <p:nvPr/>
        </p:nvSpPr>
        <p:spPr>
          <a:xfrm>
            <a:off x="525025" y="2777260"/>
            <a:ext cx="489787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대상</a:t>
            </a:r>
            <a:r>
              <a:rPr lang="en-US" altLang="ko-KR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목적</a:t>
            </a:r>
            <a:r>
              <a:rPr lang="en-US" altLang="ko-KR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전제 등 상황 정보를 제공</a:t>
            </a:r>
            <a:endParaRPr lang="en-US" altLang="ko-KR" sz="105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사용자는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한국어로 질문한다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질문에 대해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초급 개발자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이해할 수 있도록 설명해줘</a:t>
            </a:r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5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89CD9B-4E49-1DA2-97BC-F35F558ACC39}"/>
              </a:ext>
            </a:extLst>
          </p:cNvPr>
          <p:cNvSpPr txBox="1"/>
          <p:nvPr/>
        </p:nvSpPr>
        <p:spPr>
          <a:xfrm>
            <a:off x="525025" y="3582552"/>
            <a:ext cx="489787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제약이 명확하면 답변의 품질이 높아진다</a:t>
            </a:r>
            <a:r>
              <a:rPr lang="en-US" altLang="ko-KR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답변은 반드시 사람이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이해하기 쉬운 한국어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정리한다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050" b="1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답변은 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 이내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요약한다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5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40AE29-AD86-3111-1EFD-5452FE8A9E85}"/>
              </a:ext>
            </a:extLst>
          </p:cNvPr>
          <p:cNvSpPr txBox="1"/>
          <p:nvPr/>
        </p:nvSpPr>
        <p:spPr>
          <a:xfrm>
            <a:off x="525025" y="4387842"/>
            <a:ext cx="489787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답변은 </a:t>
            </a:r>
            <a:r>
              <a:rPr lang="en-US" altLang="ko-KR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JSON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형식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출력한다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050" b="1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답변은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한국어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출력한다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5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9476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FD9C2-D8C4-CA94-647F-58E0CC71F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173DA3-CDCF-2B92-60FD-03C7C8DC2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8724"/>
            <a:ext cx="8520600" cy="37602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상담사 구축 하기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574A7E0-FD43-4D19-9477-D9AFA33B02D8}"/>
              </a:ext>
            </a:extLst>
          </p:cNvPr>
          <p:cNvGrpSpPr/>
          <p:nvPr/>
        </p:nvGrpSpPr>
        <p:grpSpPr>
          <a:xfrm>
            <a:off x="437805" y="795822"/>
            <a:ext cx="203748" cy="123442"/>
            <a:chOff x="5916010" y="1808820"/>
            <a:chExt cx="271188" cy="16429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B681AE8F-B70E-EF35-C586-06D418504506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97994605-FCBD-29F1-44A0-04B67098FC47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E80D516-C25C-2426-EFCE-8CFC0939BDC6}"/>
              </a:ext>
            </a:extLst>
          </p:cNvPr>
          <p:cNvSpPr txBox="1"/>
          <p:nvPr/>
        </p:nvSpPr>
        <p:spPr>
          <a:xfrm>
            <a:off x="641553" y="711349"/>
            <a:ext cx="379447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프롬프트 분석</a:t>
            </a:r>
            <a:endParaRPr lang="ko-KR" altLang="en-US" dirty="0"/>
          </a:p>
        </p:txBody>
      </p:sp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404EF2-60A7-FF99-1A0E-C197DD388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041" y="795292"/>
            <a:ext cx="2957825" cy="3783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D6B1AF-9B3A-10BA-486B-761156ABB16C}"/>
              </a:ext>
            </a:extLst>
          </p:cNvPr>
          <p:cNvSpPr txBox="1"/>
          <p:nvPr/>
        </p:nvSpPr>
        <p:spPr>
          <a:xfrm>
            <a:off x="6442923" y="4546591"/>
            <a:ext cx="1052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300" b="1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1200" dirty="0"/>
              <a:t>프롬프트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831D53-6412-D73D-93FA-51314DE860B1}"/>
              </a:ext>
            </a:extLst>
          </p:cNvPr>
          <p:cNvSpPr txBox="1"/>
          <p:nvPr/>
        </p:nvSpPr>
        <p:spPr>
          <a:xfrm>
            <a:off x="525025" y="958521"/>
            <a:ext cx="49105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+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맥락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1BDC47-E941-E50D-09E2-3AC8A8DDBCB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395423" y="993859"/>
            <a:ext cx="180000" cy="18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16F2E2-7C18-0408-4443-E46EA951D4E3}"/>
              </a:ext>
            </a:extLst>
          </p:cNvPr>
          <p:cNvSpPr txBox="1"/>
          <p:nvPr/>
        </p:nvSpPr>
        <p:spPr>
          <a:xfrm>
            <a:off x="525025" y="1517321"/>
            <a:ext cx="49105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목표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+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맥락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E67E8B5-1F02-D9A5-1FA9-3BF3B6D0D97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395423" y="1552659"/>
            <a:ext cx="180000" cy="18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703EFF-3767-0705-3454-2646519F316D}"/>
              </a:ext>
            </a:extLst>
          </p:cNvPr>
          <p:cNvSpPr txBox="1"/>
          <p:nvPr/>
        </p:nvSpPr>
        <p:spPr>
          <a:xfrm>
            <a:off x="512325" y="2582184"/>
            <a:ext cx="49105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맥락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AD90C64-D461-B06C-B976-95FB011FF02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395423" y="2601267"/>
            <a:ext cx="180000" cy="18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6494D9-736F-4302-35A3-A96E7BD6E6D1}"/>
              </a:ext>
            </a:extLst>
          </p:cNvPr>
          <p:cNvSpPr txBox="1"/>
          <p:nvPr/>
        </p:nvSpPr>
        <p:spPr>
          <a:xfrm>
            <a:off x="525025" y="1173026"/>
            <a:ext cx="4897875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너는 </a:t>
            </a:r>
            <a:r>
              <a:rPr lang="ko-KR" altLang="en-US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이커머스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쇼핑몰의 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상담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분석 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assistant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사용자는 한국어로 질문한다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8937A6C-9707-7CD4-FFCA-13294D1E49BC}"/>
              </a:ext>
            </a:extLst>
          </p:cNvPr>
          <p:cNvCxnSpPr>
            <a:cxnSpLocks/>
          </p:cNvCxnSpPr>
          <p:nvPr/>
        </p:nvCxnSpPr>
        <p:spPr>
          <a:xfrm flipH="1">
            <a:off x="3653960" y="960486"/>
            <a:ext cx="2162640" cy="32221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9EE007B-87C1-B2EF-BFEB-D53E03E59580}"/>
              </a:ext>
            </a:extLst>
          </p:cNvPr>
          <p:cNvSpPr txBox="1"/>
          <p:nvPr/>
        </p:nvSpPr>
        <p:spPr>
          <a:xfrm>
            <a:off x="525025" y="1743553"/>
            <a:ext cx="4897875" cy="84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매우 중요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데이터가 필요하면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아래 제공된 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툴 카탈로그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중에서 골라 호출한다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툴을 호출하면 서버가 결과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(JSON)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돌려준다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필요한 경우 툴을 여러 번 호출해도 된다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번 왕복 가능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).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툴 결과를 바탕으로 사람이 이해하기 쉬운 한국어로 요약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정리해서 답변한다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EBD632F-6E98-F55C-C32B-B595B750754A}"/>
              </a:ext>
            </a:extLst>
          </p:cNvPr>
          <p:cNvCxnSpPr>
            <a:cxnSpLocks/>
          </p:cNvCxnSpPr>
          <p:nvPr/>
        </p:nvCxnSpPr>
        <p:spPr>
          <a:xfrm flipH="1">
            <a:off x="4324350" y="1182715"/>
            <a:ext cx="1546691" cy="7857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9A0805C-9E66-559C-9064-DE234EDDE2D0}"/>
              </a:ext>
            </a:extLst>
          </p:cNvPr>
          <p:cNvSpPr txBox="1"/>
          <p:nvPr/>
        </p:nvSpPr>
        <p:spPr>
          <a:xfrm>
            <a:off x="525025" y="2797601"/>
            <a:ext cx="4897875" cy="1907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툴 호출 절차 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매우 중요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질문 분류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의도 파악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질문이 아래 중 무엇인지 먼저 판별한다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→ </a:t>
            </a:r>
            <a:r>
              <a:rPr lang="en-US" altLang="ko-KR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AiGetItemList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또는 </a:t>
            </a:r>
            <a:r>
              <a:rPr lang="en-US" altLang="ko-KR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AiGetDetailItemList</a:t>
            </a:r>
            <a:endParaRPr lang="en-US" altLang="ko-KR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쇼핑몰 사용 방법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정책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안내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장바구니 등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→ </a:t>
            </a:r>
            <a:r>
              <a:rPr lang="en-US" altLang="ko-KR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AiGetManualList</a:t>
            </a:r>
            <a:endParaRPr lang="en-US" altLang="ko-KR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둘 다 해당될 수 있으면 우선 사용방법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매뉴얼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→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순으로 처리하거나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질문의 핵심에 따라 하나를 먼저 호출한다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 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AiGetItemList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“우선” 호출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 0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 처리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규칙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): </a:t>
            </a:r>
            <a:r>
              <a:rPr lang="en-US" altLang="ko-KR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AiGetItemList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결과가 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건이면 즉시 </a:t>
            </a:r>
            <a:r>
              <a:rPr lang="en-US" altLang="ko-KR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AiGetDetailItemList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호출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 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보강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필요한 경우 추가 툴 호출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번 왕복 가능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)…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매뉴얼 검색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AiGetManualList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호출 규칙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18A9342-826C-8F10-8524-BAF2BF504B90}"/>
              </a:ext>
            </a:extLst>
          </p:cNvPr>
          <p:cNvCxnSpPr>
            <a:cxnSpLocks/>
          </p:cNvCxnSpPr>
          <p:nvPr/>
        </p:nvCxnSpPr>
        <p:spPr>
          <a:xfrm flipH="1">
            <a:off x="4616450" y="1391160"/>
            <a:ext cx="1254590" cy="185369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225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8C3A9-E996-B79B-2923-8A7FA5B70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F36C1-028E-3CE8-7A97-23AF08AF8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8724"/>
            <a:ext cx="8520600" cy="37602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상담사 구축 하기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0661603-F9F8-5209-26DD-EB3C7738F30C}"/>
              </a:ext>
            </a:extLst>
          </p:cNvPr>
          <p:cNvGrpSpPr/>
          <p:nvPr/>
        </p:nvGrpSpPr>
        <p:grpSpPr>
          <a:xfrm>
            <a:off x="437805" y="795822"/>
            <a:ext cx="203748" cy="123442"/>
            <a:chOff x="5916010" y="1808820"/>
            <a:chExt cx="271188" cy="16429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B350E5DC-8412-A987-4819-BB7C2E0A2531}"/>
                </a:ext>
              </a:extLst>
            </p:cNvPr>
            <p:cNvSpPr/>
            <p:nvPr/>
          </p:nvSpPr>
          <p:spPr>
            <a:xfrm>
              <a:off x="5916010" y="1808820"/>
              <a:ext cx="164299" cy="164299"/>
            </a:xfrm>
            <a:prstGeom prst="ellipse">
              <a:avLst/>
            </a:prstGeom>
            <a:solidFill>
              <a:srgbClr val="00428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14423" fontAlgn="base" latinLnBrk="0">
                <a:buClr>
                  <a:srgbClr val="F06325"/>
                </a:buClr>
                <a:buSzPct val="80000"/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73AF2A32-6EDE-F3B4-E7E1-7492833968B1}"/>
                </a:ext>
              </a:extLst>
            </p:cNvPr>
            <p:cNvSpPr/>
            <p:nvPr/>
          </p:nvSpPr>
          <p:spPr>
            <a:xfrm>
              <a:off x="6022899" y="1808820"/>
              <a:ext cx="164299" cy="164299"/>
            </a:xfrm>
            <a:prstGeom prst="ellipse">
              <a:avLst/>
            </a:prstGeom>
            <a:solidFill>
              <a:srgbClr val="61B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23" latinLnBrk="0">
                <a:defRPr/>
              </a:pPr>
              <a:endParaRPr lang="ko-KR" altLang="en-US" sz="1200" kern="0" dirty="0">
                <a:ln>
                  <a:solidFill>
                    <a:srgbClr val="004282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CCB8068-9827-AF15-67F8-4B1A87F24477}"/>
              </a:ext>
            </a:extLst>
          </p:cNvPr>
          <p:cNvSpPr txBox="1"/>
          <p:nvPr/>
        </p:nvSpPr>
        <p:spPr>
          <a:xfrm>
            <a:off x="641553" y="711349"/>
            <a:ext cx="379447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 dirty="0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프롬프트 분석</a:t>
            </a:r>
            <a:endParaRPr lang="ko-KR" altLang="en-US" dirty="0"/>
          </a:p>
        </p:txBody>
      </p:sp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100292-B011-69EC-082D-0F9EA9801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041" y="795292"/>
            <a:ext cx="2957825" cy="3783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400C3D-58D9-0571-DFF4-D52C2E96F8C2}"/>
              </a:ext>
            </a:extLst>
          </p:cNvPr>
          <p:cNvSpPr txBox="1"/>
          <p:nvPr/>
        </p:nvSpPr>
        <p:spPr>
          <a:xfrm>
            <a:off x="6442923" y="4546591"/>
            <a:ext cx="1052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300" b="1">
                <a:highlight>
                  <a:srgbClr val="FF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1200" dirty="0"/>
              <a:t>프롬프트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62FEE5-2E6F-1051-286D-73EB47C1A269}"/>
              </a:ext>
            </a:extLst>
          </p:cNvPr>
          <p:cNvSpPr txBox="1"/>
          <p:nvPr/>
        </p:nvSpPr>
        <p:spPr>
          <a:xfrm>
            <a:off x="525025" y="1047421"/>
            <a:ext cx="49105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제약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출력 형식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B5FEBE2-0CB0-587F-761F-9C15B4063160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395423" y="1082759"/>
            <a:ext cx="180000" cy="18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D5AE82-F7D9-362F-ED00-BE94C2AE0896}"/>
              </a:ext>
            </a:extLst>
          </p:cNvPr>
          <p:cNvSpPr txBox="1"/>
          <p:nvPr/>
        </p:nvSpPr>
        <p:spPr>
          <a:xfrm>
            <a:off x="525025" y="1780401"/>
            <a:ext cx="49105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툴 카탈로그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C3D1344-7D25-6A34-EDA7-F879221C092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395423" y="1815739"/>
            <a:ext cx="180000" cy="180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FB4A5B7-9411-EFD6-8F3A-BBE2E5FA3532}"/>
              </a:ext>
            </a:extLst>
          </p:cNvPr>
          <p:cNvSpPr txBox="1"/>
          <p:nvPr/>
        </p:nvSpPr>
        <p:spPr>
          <a:xfrm>
            <a:off x="525025" y="1267251"/>
            <a:ext cx="4897875" cy="53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6)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툴 결과 해석 및 답변 작성 규칙</a:t>
            </a:r>
            <a:endParaRPr lang="en-US" altLang="ko-KR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7)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중요 고지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규칙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):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상품상세정보를 참고한 경우 경고 문구 추가</a:t>
            </a:r>
            <a:endParaRPr lang="en-US" altLang="ko-KR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8)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결과가 없을 때의 사용자 안내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ED53781-E9F9-D7AA-5783-7C6151CC2400}"/>
              </a:ext>
            </a:extLst>
          </p:cNvPr>
          <p:cNvCxnSpPr>
            <a:cxnSpLocks/>
          </p:cNvCxnSpPr>
          <p:nvPr/>
        </p:nvCxnSpPr>
        <p:spPr>
          <a:xfrm flipH="1" flipV="1">
            <a:off x="4171950" y="1657350"/>
            <a:ext cx="1657350" cy="10985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B534D43-F281-251A-0C97-8F9054CFD154}"/>
              </a:ext>
            </a:extLst>
          </p:cNvPr>
          <p:cNvSpPr txBox="1"/>
          <p:nvPr/>
        </p:nvSpPr>
        <p:spPr>
          <a:xfrm>
            <a:off x="525025" y="2007147"/>
            <a:ext cx="4897875" cy="2669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en-US" altLang="ko-KR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AiGetItemList</a:t>
            </a:r>
            <a:endParaRPr lang="en-US" altLang="ko-KR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용도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간단한 상품 목록 조회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파라미터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en-US" altLang="ko-KR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itemSeq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(optional): </a:t>
            </a:r>
            <a:r>
              <a:rPr lang="ko-KR" altLang="en-US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상품일련번호</a:t>
            </a:r>
            <a:endParaRPr lang="ko-KR" altLang="en-US" sz="9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en-US" altLang="ko-KR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itemNm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(optional):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상품명</a:t>
            </a:r>
          </a:p>
          <a:p>
            <a:pPr>
              <a:lnSpc>
                <a:spcPct val="1100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en-US" altLang="ko-KR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itemType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(optional):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분류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("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식품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 | "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화장품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 | "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")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sort (optional, default="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상품명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오름차순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"):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정렬 기준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("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단위가격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오름차순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 | "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단위가격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내림차순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 | "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등록일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내림차순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")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en-US" altLang="ko-KR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excludeSoldOut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(optional, default=true):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품절 제외 여부</a:t>
            </a:r>
          </a:p>
          <a:p>
            <a:pPr>
              <a:lnSpc>
                <a:spcPct val="1100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limit (optional)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offset (optional)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리턴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상품일련번호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상품명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낱개가격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판매단위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상품분류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상품상세분류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품절여부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판매량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등록일</a:t>
            </a:r>
          </a:p>
          <a:p>
            <a:pPr>
              <a:lnSpc>
                <a:spcPct val="1100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	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en-US" altLang="ko-KR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AiGetDetailItemList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  <a:p>
            <a:pPr>
              <a:lnSpc>
                <a:spcPct val="11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 </a:t>
            </a:r>
            <a:r>
              <a:rPr lang="en-US" altLang="ko-KR" sz="9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AiGetManualList</a:t>
            </a:r>
            <a:r>
              <a:rPr lang="en-US" altLang="ko-KR" sz="9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AD5793B-AED7-DF0E-A634-337B00677447}"/>
              </a:ext>
            </a:extLst>
          </p:cNvPr>
          <p:cNvCxnSpPr>
            <a:cxnSpLocks/>
          </p:cNvCxnSpPr>
          <p:nvPr/>
        </p:nvCxnSpPr>
        <p:spPr>
          <a:xfrm flipH="1" flipV="1">
            <a:off x="4768850" y="3211881"/>
            <a:ext cx="1060450" cy="30427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678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3D46682-115E-6D23-5264-E1DCC0B61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DDA2636-14C9-84A0-FEEC-F2B0ACF839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644" y="4392690"/>
            <a:ext cx="2248712" cy="5800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15F3AE-B251-F84F-D40B-D7D3B77FFD95}"/>
              </a:ext>
            </a:extLst>
          </p:cNvPr>
          <p:cNvSpPr txBox="1"/>
          <p:nvPr/>
        </p:nvSpPr>
        <p:spPr>
          <a:xfrm>
            <a:off x="0" y="1360875"/>
            <a:ext cx="9144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400" dirty="0">
                <a:solidFill>
                  <a:srgbClr val="2F88FF"/>
                </a:solidFill>
                <a:latin typeface="+mj-ea"/>
                <a:ea typeface="+mj-ea"/>
              </a:rPr>
              <a:t>감사합니다</a:t>
            </a:r>
            <a:r>
              <a:rPr lang="en-US" altLang="ko-KR" sz="3400" dirty="0">
                <a:solidFill>
                  <a:srgbClr val="2F88FF"/>
                </a:solidFill>
                <a:latin typeface="+mj-ea"/>
                <a:ea typeface="+mj-ea"/>
              </a:rPr>
              <a:t>!</a:t>
            </a:r>
            <a:endParaRPr lang="ko-KR" altLang="en-US" sz="3400" dirty="0">
              <a:solidFill>
                <a:srgbClr val="2F88FF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5120008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21234</TotalTime>
  <Words>1123</Words>
  <Application>Microsoft Office PowerPoint</Application>
  <PresentationFormat>화면 슬라이드 쇼(16:9)</PresentationFormat>
  <Paragraphs>203</Paragraphs>
  <Slides>18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Arial</vt:lpstr>
      <vt:lpstr>맑은 고딕</vt:lpstr>
      <vt:lpstr>Simple Light</vt:lpstr>
      <vt:lpstr>PowerPoint 프레젠테이션</vt:lpstr>
      <vt:lpstr>PowerPoint 프레젠테이션</vt:lpstr>
      <vt:lpstr>AI 개념 정리</vt:lpstr>
      <vt:lpstr>AI 개념 정리</vt:lpstr>
      <vt:lpstr>AI 개념 정리</vt:lpstr>
      <vt:lpstr>PowerPoint 프레젠테이션</vt:lpstr>
      <vt:lpstr>AI상담사 구축 하기</vt:lpstr>
      <vt:lpstr>AI상담사 구축 하기</vt:lpstr>
      <vt:lpstr>AI상담사 구축 하기</vt:lpstr>
      <vt:lpstr>AI상담사 구축 하기</vt:lpstr>
      <vt:lpstr>AI상담사 구축 하기</vt:lpstr>
      <vt:lpstr>AI상담사 구축 하기</vt:lpstr>
      <vt:lpstr>AI상담사 구축 하기</vt:lpstr>
      <vt:lpstr>AI상담사 구축 하기</vt:lpstr>
      <vt:lpstr>AI상담사 구축 하기</vt:lpstr>
      <vt:lpstr>AI상담사 구축 하기</vt:lpstr>
      <vt:lpstr>AI상담사 구축 하기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KimSangMin</dc:creator>
  <cp:lastModifiedBy>상민 김</cp:lastModifiedBy>
  <cp:revision>520</cp:revision>
  <dcterms:modified xsi:type="dcterms:W3CDTF">2026-01-18T08:13:48Z</dcterms:modified>
</cp:coreProperties>
</file>